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Phase 2-4: MLS-MPM — From 2D Water to Flood vs Bridge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2–4: MLS-MPM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从 2D 水到 3D 洪水冲毁桥梁</a:t>
            </a:r>
          </a:p>
          <a:p>
            <a:pPr lvl="0" indent="0">
              <a:buNone/>
            </a:pPr>
            <a:r>
              <a:rPr>
                <a:latin typeface="Courier"/>
              </a:rPr>
              <a:t>基于 &lt;b&gt;Taichi&lt;/b&gt; 构建 — 2D 水面 → 3D 大坝溃坝 → 洪水 vs 混凝土桥墩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1 的问题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传统方法碰到的墙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Pressure Solver 是瓶颈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每帧流程（Phase 1）：
  clear_grid
  p2g
  normalize → gravity → mark_cells
  boundary → save_velocity
  compute_divergence → pressure_zero
  ╔═══════════════════════════╗
  ║  120 × Gauss-Seidel 迭代  ║  ← 70% 计算时间
  ╚═══════════════════════════╝
  project → boundary → g2p → advect</a:t>
                </a:r>
              </a:p>
              <a:p>
                <a:pPr lvl="0"/>
                <a:r>
                  <a:rPr/>
                  <a:t>120 次迭代才能收敛</a:t>
                </a:r>
              </a:p>
              <a:p>
                <a:pPr lvl="0"/>
                <a:r>
                  <a:rPr/>
                  <a:t>需要分类 cell type (FLUID/AIR/SOLID)</a:t>
                </a:r>
              </a:p>
              <a:p>
                <a:pPr lvl="0"/>
                <a:r>
                  <a:rPr/>
                  <a:t>MAC staggered grid → u, v 在不同位置</a:t>
                </a:r>
              </a:p>
              <a:p>
                <a:pPr lvl="0"/>
                <a:r>
                  <a:rPr/>
                  <a:t>代码量 ~650 行，调参复杂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扩展性差</a:t>
                </a:r>
              </a:p>
              <a:p>
                <a:pPr lvl="0"/>
                <a:r>
                  <a:rPr/>
                  <a:t>只能做流体——改材料要重写</a:t>
                </a:r>
              </a:p>
              <a:p>
                <a:pPr lvl="0"/>
                <a:r>
                  <a:rPr/>
                  <a:t>加固体？需要另一套 solver</a:t>
                </a:r>
              </a:p>
              <a:p>
                <a:pPr lvl="0"/>
                <a:r>
                  <a:rPr/>
                  <a:t>升 3D？Poisson 求解器变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/>
                <a:r>
                  <a:rPr/>
                  <a:t>自由表面需要手动 cell 分类</a:t>
                </a:r>
              </a:p>
              <a:p>
                <a:pPr lvl="0" indent="0" marL="0">
                  <a:buNone/>
                </a:pPr>
                <a:r>
                  <a:rPr b="1"/>
                  <a:t>核心矛盾</a:t>
                </a:r>
                <a:r>
                  <a:rPr/>
                  <a:t>：</a:t>
                </a:r>
              </a:p>
              <a:p>
                <a:pPr lvl="0" indent="0" marL="0">
                  <a:buNone/>
                </a:pPr>
                <a:r>
                  <a:rPr/>
                  <a:t>全局 Poisson 求解 = 精确不可压缩</a:t>
                </a:r>
              </a:p>
              <a:p>
                <a:pPr lvl="0" indent="0" marL="0">
                  <a:buNone/>
                </a:pPr>
                <a:r>
                  <a:rPr/>
                  <a:t>但代价是：慢、复杂、不通用</a:t>
                </a:r>
              </a:p>
              <a:p>
                <a:pPr lvl="0" indent="0" marL="0">
                  <a:buNone/>
                </a:pPr>
                <a:r>
                  <a:rPr b="1"/>
                  <a:t>我们需要一个更好的方法。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解决方案：MLS-MPM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关键转变：</a:t>
            </a:r>
            <a:r>
              <a:rPr b="1"/>
              <a:t>Pressure Poisson 求解 → 状态方程 (EOS)</a:t>
            </a:r>
          </a:p>
          <a:p>
            <a:pPr lvl="0" indent="0" marL="0">
              <a:buNone/>
            </a:pPr>
            <a:r>
              <a:rPr/>
              <a:t>每个粒子自己算压力，不需要全局求解器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Material Point Method</a:t>
            </a:r>
          </a:p>
          <a:p>
            <a:pPr lvl="0"/>
            <a:r>
              <a:rPr/>
              <a:t>1994 年 Sulsky 等人提出</a:t>
            </a:r>
          </a:p>
          <a:p>
            <a:pPr lvl="0"/>
            <a:r>
              <a:rPr/>
              <a:t>Disney 用 MPM 做了《冰雪奇缘》的雪</a:t>
            </a:r>
          </a:p>
          <a:p>
            <a:pPr lvl="0"/>
            <a:r>
              <a:rPr/>
              <a:t>2018 年 Hu et al. 提出 </a:t>
            </a:r>
            <a:r>
              <a:rPr b="1"/>
              <a:t>MLS-MPM</a:t>
            </a:r>
            <a:r>
              <a:rPr/>
              <a:t>——简化版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核心思想</a:t>
            </a:r>
          </a:p>
          <a:p>
            <a:pPr lvl="0" indent="0" marL="0">
              <a:buNone/>
            </a:pPr>
            <a:r>
              <a:rPr/>
              <a:t>粒子 = </a:t>
            </a:r>
            <a:r>
              <a:rPr b="1"/>
              <a:t>material points（质点）</a:t>
            </a:r>
          </a:p>
          <a:p>
            <a:pPr lvl="0" indent="0" marL="0">
              <a:buNone/>
            </a:pPr>
            <a:r>
              <a:rPr/>
              <a:t>每个粒子代表一小团材料：质量、体积、速度、内部状态</a:t>
            </a:r>
          </a:p>
          <a:p>
            <a:pPr lvl="0" indent="0" marL="0">
              <a:buNone/>
            </a:pPr>
            <a:r>
              <a:rPr/>
              <a:t>通过 </a:t>
            </a:r>
            <a:r>
              <a:rPr b="1"/>
              <a:t>grid</a:t>
            </a:r>
            <a:r>
              <a:rPr/>
              <a:t> 互相”交流”</a:t>
            </a:r>
          </a:p>
          <a:p>
            <a:pPr lvl="0" indent="0">
              <a:buNone/>
            </a:pPr>
            <a:r>
              <a:rPr>
                <a:latin typeface="Courier"/>
              </a:rPr>
              <a:t> 传统方法的问题：
 Euler (grid)：
   ✅ 容易求解方程
   ❌ numerical diffusion
   ❌ 拓扑变化困难
 Lagrange (particles)：
   ✅ 精确追踪材料
   ❌ mesh tangling
   ❌ 大变形困难
 MPM (hybrid)：
   ✅ grid 求解 + particle 追踪
   ✅ 任意大变形
   ✅ 自动处理拓扑变化
   ✅ 统一框架处理各种材料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MLS-MPM 流程概览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┌──────────────────────────────────────────────────────┐
│                   每个 Substep                        │
│                                                      │
│  Particles ──P2G──► Grid ──ops──► Grid ──G2P──► Particles
│     │                                          │     │
│     │         (gravity + boundary)             │     │
│     │                                          │     │
│     └──────── advect + update J ◄──────────────┘     │
│                                                      │
│  没有 pressure solve！应力直接在 P2G 中计算            │
└──────────────────────────────────────────────────────┘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步骤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作用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P2G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Particle to Grid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散射速度 + </a:t>
                      </a:r>
                      <a:r>
                        <a:rPr b="1"/>
                        <a:t>应力</a:t>
                      </a:r>
                      <a:r>
                        <a:rPr/>
                        <a:t> 到 grid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Grid 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重力 + 边界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简单的逐节点操作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G2P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Grid to Particle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收集速度，更新 C 和 J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Advect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粒子移动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pos += vel * dt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旧：P2G → normalize → gravity → mark_cells → boundary → save_vel → divergence → </a:t>
            </a:r>
            <a:r>
              <a:rPr b="1"/>
              <a:t>120×GS</a:t>
            </a:r>
            <a:r>
              <a:rPr/>
              <a:t> → project → boundary → G2P → advect</a:t>
            </a:r>
          </a:p>
          <a:p>
            <a:pPr lvl="0" indent="0" marL="0">
              <a:buNone/>
            </a:pPr>
            <a:r>
              <a:rPr b="1"/>
              <a:t>MLS-MPM：P2G → grid_ops → G2P。就这么简单。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关键概念：体积比 J 与状态方程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体积比 J = det(F)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J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当前体积</m:t>
                          </m:r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m:t>初始体积</m:t>
                          </m:r>
                        </m:den>
                      </m:f>
                    </m:oMath>
                  </m:oMathPara>
                </a14:m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J = 1.0  → 未变形
J &lt; 1.0  → 被压缩 → 产生正压力
J &gt; 1.0  → 被拉伸</a:t>
                </a:r>
              </a:p>
              <a:p>
                <a:pPr lvl="0" indent="0" marL="0">
                  <a:buNone/>
                </a:pPr>
                <a:r>
                  <a:rPr b="1"/>
                  <a:t>更新：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J</m:t>
                        </m:r>
                      </m:e>
                      <m:sub>
                        <m:r>
                          <m:t>n</m:t>
                        </m:r>
                        <m:r>
                          <m:t>e</m:t>
                        </m:r>
                        <m:r>
                          <m:t>w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J</m:t>
                        </m:r>
                      </m:e>
                      <m:sub>
                        <m:r>
                          <m:t>o</m:t>
                        </m:r>
                        <m:r>
                          <m:t>l</m:t>
                        </m:r>
                        <m:r>
                          <m:t>d</m:t>
                        </m:r>
                      </m:sub>
                    </m:sSub>
                    <m:r>
                      <m:rPr>
                        <m:sty m:val="p"/>
                      </m:rPr>
                      <m:t>×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Δ</m:t>
                    </m:r>
                    <m:r>
                      <m:t>t</m:t>
                    </m:r>
                    <m:r>
                      <m:rPr>
                        <m:sty m:val="p"/>
                      </m:rPr>
                      <m:t>⋅</m:t>
                    </m:r>
                    <m:r>
                      <m:rPr>
                        <m:nor/>
                        <m:sty m:val="p"/>
                      </m:rPr>
                      <m:t>tr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bi"/>
                      </m:rPr>
                      <m:t>C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水只需要标量 J（各向同性，无剪切应力）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单向 EOS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J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>
                  <a:buNone/>
                </a:pPr>
                <a:r>
                  <a:rPr i="1">
                    <a:solidFill>
                      <a:srgbClr val="60A0B0"/>
                    </a:solidFill>
                    <a:latin typeface="Courier"/>
                  </a:rPr>
                  <a:t># P2G 中直接计算应力</a:t>
                </a:r>
                <a:br/>
                <a:r>
                  <a:rPr>
                    <a:latin typeface="Courier"/>
                  </a:rPr>
                  <a:t>stress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4.0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inv_dx²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p_vol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(J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1.0</a:t>
                </a:r>
                <a:r>
                  <a:rPr>
                    <a:latin typeface="Courier"/>
                  </a:rPr>
                  <a:t>)</a:t>
                </a:r>
                <a:br/>
                <a:r>
                  <a:rPr>
                    <a:latin typeface="Courier"/>
                  </a:rPr>
                  <a:t>affine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stress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I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latin typeface="Courier"/>
                  </a:rPr>
                  <a:t> mass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C</a:t>
                </a:r>
              </a:p>
              <a:p>
                <a:pPr lvl="0"/>
                <a:r>
                  <a:rPr/>
                  <a:t>一行公式替代 120 次 GS 迭代</a:t>
                </a:r>
              </a:p>
              <a:p>
                <a:pPr lvl="0"/>
                <a:r>
                  <a:rPr/>
                  <a:t>每个粒子独立计算——完全并行</a:t>
                </a:r>
              </a:p>
              <a:p>
                <a:pPr lvl="0"/>
                <a:r>
                  <a:rPr/>
                  <a:t>自由表面自动处理：</a:t>
                </a:r>
              </a:p>
              <a:p>
                <a:pPr lvl="1"/>
                <a:r>
                  <a:rPr/>
                  <a:t>有粒子 → 有质量 → 有应力</a:t>
                </a:r>
              </a:p>
              <a:p>
                <a:pPr lvl="1"/>
                <a:r>
                  <a:rPr/>
                  <a:t>没粒子 → 不活跃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Affine Matrix C 与 APIC 传输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 = 局部速度梯度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bi"/>
                            </m:rPr>
                            <m:t>C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4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m:t>Δ</m:t>
                          </m:r>
                          <m:sSup>
                            <m:e>
                              <m:r>
                                <m:t>x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p</m:t>
                              </m:r>
                            </m:sub>
                          </m:sSub>
                        </m:e>
                      </m:nary>
                      <m:sSub>
                        <m:e>
                          <m:r>
                            <m:rPr>
                              <m:sty m:val="bi"/>
                            </m:rPr>
                            <m:t>v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m:t>x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编码粒子周围的速度场：</a:t>
                </a:r>
              </a:p>
              <a:p>
                <a:pPr lvl="0"/>
                <a:r>
                  <a:rPr b="1"/>
                  <a:t>trace(C)</a:t>
                </a:r>
                <a:r>
                  <a:rPr/>
                  <a:t> = 散度（膨胀/压缩）→ 更新 J</a:t>
                </a:r>
              </a:p>
              <a:p>
                <a:pPr lvl="0"/>
                <a:r>
                  <a:rPr/>
                  <a:t>反对称部分 = 旋涡</a:t>
                </a:r>
              </a:p>
              <a:p>
                <a:pPr lvl="0"/>
                <a:r>
                  <a:rPr/>
                  <a:t>对称部分 = 应变率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P2G 中的使用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affine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stress_term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latin typeface="Courier"/>
                  </a:rPr>
                  <a:t> mass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C</a:t>
                </a:r>
                <a:br/>
                <a:r>
                  <a:rPr>
                    <a:latin typeface="Courier"/>
                  </a:rPr>
                  <a:t>momentum_i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+=</a:t>
                </a:r>
                <a:r>
                  <a:rPr>
                    <a:latin typeface="Courier"/>
                  </a:rPr>
                  <a:t> w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(mass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v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latin typeface="Courier"/>
                  </a:rPr>
                  <a:t> affine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@</a:t>
                </a:r>
                <a:r>
                  <a:rPr>
                    <a:latin typeface="Courier"/>
                  </a:rPr>
                  <a:t> dpos)</a:t>
                </a:r>
              </a:p>
              <a:p>
                <a:pPr lvl="0" indent="0" marL="0">
                  <a:buNone/>
                </a:pPr>
                <a:r>
                  <a:rPr>
                    <a:latin typeface="Courier"/>
                  </a:rPr>
                  <a:t>affine @ dpos</a:t>
                </a:r>
                <a:r>
                  <a:rPr/>
                  <a:t> 同时完成：APIC 速度外推 + 压力梯度力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 的双重身份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  只有速度 v（PIC）：
  ─────────────────
       ↑
       │  v
       ●
  速度 + 梯度 C（APIC/MLS-MPM）：
  ────────────────────────
       ↗ ↑ ↖
       → ● ←  C 描述周围如何变化
       ↙ ↓ ↘</a:t>
                </a:r>
              </a:p>
              <a:p>
                <a:pPr lvl="0" indent="0" marL="0">
                  <a:buNone/>
                </a:pPr>
                <a:r>
                  <a:rPr b="1"/>
                  <a:t>MLS-MPM 的优雅之处</a:t>
                </a:r>
                <a:r>
                  <a:rPr/>
                  <a:t>：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传输时</a:t>
                </a:r>
                <a:r>
                  <a:rPr/>
                  <a:t>：APIC affine matrix → 保持角动量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物理上</a:t>
                </a:r>
                <a:r>
                  <a:rPr/>
                  <a:t>：trace(C) = 散度 → 更新 J</a:t>
                </a:r>
              </a:p>
              <a:p>
                <a:pPr lvl="0" indent="0" marL="0">
                  <a:buNone/>
                </a:pPr>
                <a:r>
                  <a:rPr/>
                  <a:t>一个矩阵同时服务于传输精度和物理更新</a:t>
                </a:r>
              </a:p>
              <a:p>
                <a:pPr lvl="0" indent="0" marL="0">
                  <a:buNone/>
                </a:pPr>
                <a:r>
                  <a:rPr/>
                  <a:t>“Moving Least Squares” 名字来自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m:t>Δ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/>
                  <a:t> 系数（B-spline 惯性张量逆）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Phase 2 完成：代码量对比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FLIP/APIC + Pressure Solve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substep(dt):</a:t>
            </a:r>
            <a:br/>
            <a:r>
              <a:rPr>
                <a:latin typeface="Courier"/>
              </a:rPr>
              <a:t>    clear_grid()</a:t>
            </a:r>
            <a:br/>
            <a:r>
              <a:rPr>
                <a:latin typeface="Courier"/>
              </a:rPr>
              <a:t>    p2g()</a:t>
            </a:r>
            <a:br/>
            <a:r>
              <a:rPr>
                <a:latin typeface="Courier"/>
              </a:rPr>
              <a:t>    normalize_grid()</a:t>
            </a:r>
            <a:br/>
            <a:r>
              <a:rPr>
                <a:latin typeface="Courier"/>
              </a:rPr>
              <a:t>    add_gravity(dt)</a:t>
            </a:r>
            <a:br/>
            <a:r>
              <a:rPr>
                <a:latin typeface="Courier"/>
              </a:rPr>
              <a:t>    mark_cell_type()</a:t>
            </a:r>
            <a:br/>
            <a:r>
              <a:rPr>
                <a:latin typeface="Courier"/>
              </a:rPr>
              <a:t>    apply_boundary()</a:t>
            </a:r>
            <a:br/>
            <a:r>
              <a:rPr>
                <a:latin typeface="Courier"/>
              </a:rPr>
              <a:t>    save_grid_velocity()</a:t>
            </a:r>
            <a:br/>
            <a:r>
              <a:rPr>
                <a:latin typeface="Courier"/>
              </a:rPr>
              <a:t>    compute_divergence()</a:t>
            </a:r>
            <a:br/>
            <a:r>
              <a:rPr>
                <a:latin typeface="Courier"/>
              </a:rPr>
              <a:t>    pressure_zero()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_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120</a:t>
            </a:r>
            <a:r>
              <a:rPr>
                <a:latin typeface="Courier"/>
              </a:rPr>
              <a:t>):        </a:t>
            </a:r>
            <a:r>
              <a:rPr i="1">
                <a:solidFill>
                  <a:srgbClr val="60A0B0"/>
                </a:solidFill>
                <a:latin typeface="Courier"/>
              </a:rPr>
              <a:t># ← 瓶颈</a:t>
            </a:r>
            <a:br/>
            <a:r>
              <a:rPr>
                <a:latin typeface="Courier"/>
              </a:rPr>
              <a:t>        gs_red_freesurface()</a:t>
            </a:r>
            <a:br/>
            <a:r>
              <a:rPr>
                <a:latin typeface="Courier"/>
              </a:rPr>
              <a:t>        gs_black_freesurface()</a:t>
            </a:r>
            <a:br/>
            <a:r>
              <a:rPr>
                <a:latin typeface="Courier"/>
              </a:rPr>
              <a:t>    project()</a:t>
            </a:r>
            <a:br/>
            <a:r>
              <a:rPr>
                <a:latin typeface="Courier"/>
              </a:rPr>
              <a:t>    apply_boundary()</a:t>
            </a:r>
            <a:br/>
            <a:r>
              <a:rPr>
                <a:latin typeface="Courier"/>
              </a:rPr>
              <a:t>    g2p()</a:t>
            </a:r>
            <a:br/>
            <a:r>
              <a:rPr>
                <a:latin typeface="Courier"/>
              </a:rPr>
              <a:t>    advect_particles(dt)</a:t>
            </a:r>
          </a:p>
          <a:p>
            <a:pPr lvl="0" indent="0" marL="0">
              <a:buNone/>
            </a:pPr>
            <a:r>
              <a:rPr b="1"/>
              <a:t>~650 行，~1000 kernel calls/帧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MLS-MPM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substep():</a:t>
            </a:r>
            <a:br/>
            <a:r>
              <a:rPr>
                <a:latin typeface="Courier"/>
              </a:rPr>
              <a:t>    clear_grid()</a:t>
            </a:r>
            <a:br/>
            <a:r>
              <a:rPr>
                <a:latin typeface="Courier"/>
              </a:rPr>
              <a:t>    p2g()</a:t>
            </a:r>
            <a:br/>
            <a:r>
              <a:rPr>
                <a:latin typeface="Courier"/>
              </a:rPr>
              <a:t>    grid_ops()</a:t>
            </a:r>
            <a:br/>
            <a:r>
              <a:rPr>
                <a:latin typeface="Courier"/>
              </a:rPr>
              <a:t>    g2p()</a:t>
            </a:r>
          </a:p>
          <a:p>
            <a:pPr lvl="0" indent="0" marL="0">
              <a:buNone/>
            </a:pPr>
            <a:r>
              <a:rPr b="1"/>
              <a:t>~200 行，3 × 16 = 48 kernels/帧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FLIP/APIC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MLS-MPM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压力求解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120× GS 迭代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无（EOS）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 staggered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Collocated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自由表面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手动 cell 分类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自动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代码行数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~650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可扩展性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只做流体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水/雪/沙/弹性体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3：从 2D 到 3D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同样的 MLS-MPM 框架，但：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维度升级</a:t>
            </a:r>
          </a:p>
          <a:p>
            <a:pPr lvl="0"/>
            <a:r>
              <a:rPr/>
              <a:t>2D grid → </a:t>
            </a:r>
            <a:r>
              <a:rPr b="1"/>
              <a:t>64³ 3D grid</a:t>
            </a:r>
          </a:p>
          <a:p>
            <a:pPr lvl="0"/>
            <a:r>
              <a:rPr/>
              <a:t>2×2 stencil → </a:t>
            </a:r>
            <a:r>
              <a:rPr b="1"/>
              <a:t>3×3×3 stencil</a:t>
            </a:r>
          </a:p>
          <a:p>
            <a:pPr lvl="0"/>
            <a:r>
              <a:rPr/>
              <a:t>2×2 矩阵 → </a:t>
            </a:r>
            <a:r>
              <a:rPr b="1"/>
              <a:t>3×3 矩阵</a:t>
            </a:r>
          </a:p>
          <a:p>
            <a:pPr lvl="0"/>
            <a:r>
              <a:rPr/>
              <a:t>粒子数：~270K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新材料</a:t>
            </a:r>
          </a:p>
          <a:p>
            <a:pPr lvl="0"/>
            <a:r>
              <a:rPr/>
              <a:t>水（EOS）+ </a:t>
            </a:r>
            <a:r>
              <a:rPr b="1"/>
              <a:t>固体结构</a:t>
            </a:r>
          </a:p>
          <a:p>
            <a:pPr lvl="0"/>
            <a:r>
              <a:rPr/>
              <a:t>Drucker-Prager 弹塑性</a:t>
            </a:r>
          </a:p>
          <a:p>
            <a:pPr lvl="0"/>
            <a:r>
              <a:rPr/>
              <a:t>SVD 分解 + return mapping</a:t>
            </a:r>
          </a:p>
          <a:p>
            <a:pPr lvl="0"/>
            <a:r>
              <a:rPr/>
              <a:t>共享 grid → 自动耦合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破碎模拟</a:t>
            </a:r>
          </a:p>
          <a:p>
            <a:pPr lvl="0"/>
            <a:r>
              <a:rPr/>
              <a:t>Damage 累积 → 裂纹扩展</a:t>
            </a:r>
          </a:p>
          <a:p>
            <a:pPr lvl="0"/>
            <a:r>
              <a:rPr/>
              <a:t>拉伸破坏 → F 重置（碎片）</a:t>
            </a:r>
          </a:p>
          <a:p>
            <a:pPr lvl="0"/>
            <a:r>
              <a:rPr/>
              <a:t>Cohesion 退化 → 级联失效</a:t>
            </a:r>
          </a:p>
          <a:p>
            <a:pPr lvl="0"/>
            <a:r>
              <a:rPr/>
              <a:t>水冲击桥墩 → </a:t>
            </a:r>
            <a:r>
              <a:rPr b="1"/>
              <a:t>结构粉碎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两种材料，一个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自动两相耦合</a:t>
            </a:r>
          </a:p>
          <a:p>
            <a:pPr lvl="0" indent="0">
              <a:buNone/>
            </a:pPr>
            <a:r>
              <a:rPr>
                <a:latin typeface="Courier"/>
              </a:rPr>
              <a:t>  Water particles ──┐
                    ├── P2G ──► 同一个 Grid
  Sand particles  ──┘         │
                              ▼
                         grid_ops
                        (gravity +
                         boundary)
                              │
                              ▼
  Water particles ◄──┐
                     ├── G2P
  Sand particles  ◄──┘</a:t>
            </a:r>
          </a:p>
          <a:p>
            <a:pPr lvl="0" indent="0" marL="0">
              <a:buNone/>
            </a:pPr>
            <a:r>
              <a:rPr/>
              <a:t>水和固体</a:t>
            </a:r>
            <a:r>
              <a:rPr b="1"/>
              <a:t>共享 grid 节点</a:t>
            </a:r>
            <a:r>
              <a:rPr/>
              <a:t>： - 水粒子散射动量 → grid - 固体粒子散射动量 + </a:t>
            </a:r>
            <a:r>
              <a:rPr b="1"/>
              <a:t>应力</a:t>
            </a:r>
            <a:r>
              <a:rPr/>
              <a:t> → 同一个 grid - Grid 速度 = 加权平均 → 自然耦合</a:t>
            </a:r>
          </a:p>
          <a:p>
            <a:pPr lvl="0" indent="0" marL="0">
              <a:buNone/>
            </a:pPr>
            <a:r>
              <a:rPr b="1"/>
              <a:t>不需要显式耦合项！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P2G 中的材料分支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mat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WATER: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弱可压缩 EOS</a:t>
            </a:r>
            <a:br/>
            <a:r>
              <a:rPr>
                <a:latin typeface="Courier"/>
              </a:rPr>
              <a:t>    stress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inv_dx²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p_vol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E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(J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affine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stress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mass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C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mat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SAND: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SVD → Drucker-Prager → Hencky stress</a:t>
            </a:r>
            <a:br/>
            <a:r>
              <a:rPr>
                <a:latin typeface="Courier"/>
              </a:rPr>
              <a:t>    U, Σ, V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svd(F)</a:t>
            </a:r>
            <a:br/>
            <a:r>
              <a:rPr>
                <a:latin typeface="Courier"/>
              </a:rPr>
              <a:t>    Σ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sand_projection(Σ, cohesion)</a:t>
            </a:r>
            <a:br/>
            <a:r>
              <a:rPr>
                <a:latin typeface="Courier"/>
              </a:rPr>
              <a:t>    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 </a:t>
            </a:r>
            <a:r>
              <a:rPr>
                <a:solidFill>
                  <a:srgbClr val="666666"/>
                </a:solidFill>
                <a:latin typeface="Courier"/>
              </a:rPr>
              <a:t>@</a:t>
            </a:r>
            <a:r>
              <a:rPr>
                <a:latin typeface="Courier"/>
              </a:rPr>
              <a:t> Σ </a:t>
            </a:r>
            <a:r>
              <a:rPr>
                <a:solidFill>
                  <a:srgbClr val="666666"/>
                </a:solidFill>
                <a:latin typeface="Courier"/>
              </a:rPr>
              <a:t>@</a:t>
            </a:r>
            <a:r>
              <a:rPr>
                <a:latin typeface="Courier"/>
              </a:rPr>
              <a:t> V</a:t>
            </a:r>
            <a:r>
              <a:rPr>
                <a:solidFill>
                  <a:srgbClr val="666666"/>
                </a:solidFill>
                <a:latin typeface="Courier"/>
              </a:rPr>
              <a:t>^</a:t>
            </a:r>
            <a:r>
              <a:rPr>
                <a:latin typeface="Courier"/>
              </a:rPr>
              <a:t>T</a:t>
            </a:r>
            <a:br/>
            <a:br/>
            <a:r>
              <a:rPr>
                <a:latin typeface="Courier"/>
              </a:rPr>
              <a:t>    τ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 </a:t>
            </a:r>
            <a:r>
              <a:rPr>
                <a:solidFill>
                  <a:srgbClr val="666666"/>
                </a:solidFill>
                <a:latin typeface="Courier"/>
              </a:rPr>
              <a:t>@</a:t>
            </a:r>
            <a:r>
              <a:rPr>
                <a:latin typeface="Courier"/>
              </a:rPr>
              <a:t> diag(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 b="1">
                <a:solidFill>
                  <a:srgbClr val="FF0000"/>
                </a:solidFill>
                <a:latin typeface="Courier"/>
              </a:rPr>
              <a:t>μ</a:t>
            </a:r>
            <a:r>
              <a:rPr>
                <a:latin typeface="Courier"/>
              </a:rPr>
              <a:t>·log(σ)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λ·Σlog(σ)) </a:t>
            </a:r>
            <a:r>
              <a:rPr>
                <a:solidFill>
                  <a:srgbClr val="666666"/>
                </a:solidFill>
                <a:latin typeface="Courier"/>
              </a:rPr>
              <a:t>@</a:t>
            </a:r>
            <a:r>
              <a:rPr>
                <a:latin typeface="Courier"/>
              </a:rPr>
              <a:t> U</a:t>
            </a:r>
            <a:r>
              <a:rPr>
                <a:solidFill>
                  <a:srgbClr val="666666"/>
                </a:solidFill>
                <a:latin typeface="Courier"/>
              </a:rPr>
              <a:t>^</a:t>
            </a:r>
            <a:r>
              <a:rPr>
                <a:latin typeface="Courier"/>
              </a:rPr>
              <a:t>T</a:t>
            </a:r>
            <a:br/>
            <a:r>
              <a:rPr>
                <a:latin typeface="Courier"/>
              </a:rPr>
              <a:t>    stress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inv_dx²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p_vol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J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τ</a:t>
            </a:r>
            <a:br/>
            <a:r>
              <a:rPr>
                <a:latin typeface="Courier"/>
              </a:rPr>
              <a:t>    affine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stress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mass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C</a:t>
            </a:r>
          </a:p>
          <a:p>
            <a:pPr lvl="0" indent="0" marL="0">
              <a:buNone/>
            </a:pPr>
            <a:r>
              <a:rPr/>
              <a:t>Scatter 到 grid 的循环</a:t>
            </a:r>
            <a:r>
              <a:rPr b="1"/>
              <a:t>完全相同</a:t>
            </a:r>
            <a:r>
              <a:rPr/>
              <a:t> → 不同的只是 </a:t>
            </a:r>
            <a:r>
              <a:rPr>
                <a:latin typeface="Courier"/>
              </a:rPr>
              <a:t>affine</a:t>
            </a:r>
            <a:r>
              <a:rPr/>
              <a:t> 的计算方式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固体应力：Hencky Strain + Kirchhoff Stress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形变梯度 F（3×3 矩阵）</a:t>
                </a:r>
              </a:p>
              <a:p>
                <a:pPr lvl="0" indent="0" marL="0">
                  <a:buNone/>
                </a:pPr>
                <a:r>
                  <a:rPr/>
                  <a:t>水只需标量 J = det(F)</a:t>
                </a:r>
              </a:p>
              <a:p>
                <a:pPr lvl="0" indent="0" marL="0">
                  <a:buNone/>
                </a:pPr>
                <a:r>
                  <a:rPr/>
                  <a:t>固体需要</a:t>
                </a:r>
                <a:r>
                  <a:rPr b="1"/>
                  <a:t>完整的 F</a:t>
                </a:r>
                <a:r>
                  <a:rPr/>
                  <a:t> → 追踪旋转、拉伸、剪切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bi"/>
                            </m:rPr>
                            <m:t>F</m:t>
                          </m:r>
                        </m:e>
                        <m:sub>
                          <m:r>
                            <m:t>n</m:t>
                          </m:r>
                          <m:r>
                            <m:t>e</m:t>
                          </m:r>
                          <m: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i"/>
                        </m:rPr>
                        <m:t>I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Δ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bi"/>
                        </m:rP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⋅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m:t>F</m:t>
                          </m:r>
                        </m:e>
                        <m:sub>
                          <m:r>
                            <m:t>o</m:t>
                          </m:r>
                          <m:r>
                            <m:t>l</m:t>
                          </m:r>
                          <m:r>
                            <m:t>d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SVD 分解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bi"/>
                        </m:rPr>
                        <m:t>F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bi"/>
                        </m:rPr>
                        <m:t>U</m:t>
                      </m:r>
                      <m:r>
                        <m:rPr>
                          <m:sty m:val="b"/>
                        </m:rPr>
                        <m:t>Σ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m:t>V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</m:oMath>
                  </m:oMathPara>
                </a14:m>
              </a:p>
              <a:p>
                <a:pPr lvl="0"/>
                <a:r>
                  <a:rPr b="1"/>
                  <a:t>U, V</a:t>
                </a:r>
                <a:r>
                  <a:rPr/>
                  <a:t>：旋转矩阵（方向信息）</a:t>
                </a:r>
              </a:p>
              <a:p>
                <a:pPr lvl="0"/>
                <a:r>
                  <a:rPr b="1"/>
                  <a:t>Σ</a:t>
                </a:r>
                <a:r>
                  <a:rPr/>
                  <a:t>：对角矩阵 = 三个轴上的拉伸比</a:t>
                </a:r>
              </a:p>
              <a:p>
                <a:pPr lvl="1"/>
                <a:r>
                  <a:rPr/>
                  <a:t>σ = 1.0 → 无变形</a:t>
                </a:r>
              </a:p>
              <a:p>
                <a:pPr lvl="1"/>
                <a:r>
                  <a:rPr/>
                  <a:t>σ &lt; 1.0 → 被压缩</a:t>
                </a:r>
              </a:p>
              <a:p>
                <a:pPr lvl="1"/>
                <a:r>
                  <a:rPr/>
                  <a:t>σ &gt; 1.0 → 被拉伸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Hencky Strain（对数应变）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bi"/>
                        </m:rPr>
                        <m:t>ε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ln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"/>
                        </m:rPr>
                        <m:t>Σ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diag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p"/>
                        </m:rPr>
                        <m:t>ln</m:t>
                      </m:r>
                      <m:sSub>
                        <m:e>
                          <m:r>
                            <m:t>σ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ln</m:t>
                      </m:r>
                      <m:sSub>
                        <m:e>
                          <m:r>
                            <m:t>σ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ln</m:t>
                      </m:r>
                      <m:sSub>
                        <m:e>
                          <m:r>
                            <m:t>σ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Kirchhoff Stress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bi"/>
                        </m:rPr>
                        <m:t>τ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bi"/>
                        </m:rPr>
                        <m:t>U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nor/>
                          <m:sty m:val="p"/>
                        </m:rPr>
                        <m:t>diag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2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ln</m:t>
                      </m:r>
                      <m:sSub>
                        <m:e>
                          <m:r>
                            <m:t>σ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λ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j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m:t>ln</m:t>
                          </m:r>
                        </m:e>
                      </m:nary>
                      <m:sSub>
                        <m:e>
                          <m:r>
                            <m:t>σ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⋅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m:t>U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</m:oMath>
                  </m:oMathPara>
                </a14:m>
              </a:p>
              <a:p>
                <a:pPr lvl="0"/>
                <a:r>
                  <a:rPr b="1"/>
                  <a:t>μ, λ</a:t>
                </a:r>
                <a:r>
                  <a:rPr/>
                  <a:t>：Lamé 参数（由 E, ν 计算）</a:t>
                </a:r>
              </a:p>
              <a:p>
                <a:pPr lvl="0"/>
                <a:r>
                  <a:rPr/>
                  <a:t>ln(σ) → 应变</a:t>
                </a:r>
              </a:p>
              <a:p>
                <a:pPr lvl="0"/>
                <a:r>
                  <a:rPr/>
                  <a:t>线性组合 → 应力</a:t>
                </a:r>
              </a:p>
              <a:p>
                <a:pPr lvl="0"/>
                <a:r>
                  <a:rPr/>
                  <a:t>旋转回世界坐标系（U…U^T）</a:t>
                </a:r>
              </a:p>
              <a:p>
                <a:pPr lvl="0" indent="0" marL="0">
                  <a:buNone/>
                </a:pPr>
                <a:r>
                  <a:rPr/>
                  <a:t>Hencky strain 的优势：对数形式天然适合大变形。 σ = 2（拉伸 2 倍）和 σ = 0.5（压缩一半）给出对称的应变值。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Drucker-Prager 屈服准则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什么时候材料”屈服”？</a:t>
                </a:r>
              </a:p>
              <a:p>
                <a:pPr lvl="0" indent="0" marL="0">
                  <a:buNone/>
                </a:pPr>
                <a:r>
                  <a:rPr/>
                  <a:t>在 log-strain 空间做 return mapping：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ε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ln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"/>
                        </m:rPr>
                        <m:t>Σ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tr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∑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偏应变（形状变化，不含体积变化）：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ε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ε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tr</m:t>
                          </m:r>
                        </m:num>
                        <m:den>
                          <m:r>
                            <m:t>3</m:t>
                          </m:r>
                        </m:den>
                      </m:f>
                      <m:r>
                        <m:rPr>
                          <m:sty m:val="b"/>
                        </m:rPr>
                        <m:t>1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屈服判据：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Δ</m:t>
                      </m:r>
                      <m:r>
                        <m:t>γ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∥</m:t>
                      </m:r>
                      <m:acc>
                        <m:accPr>
                          <m:chr m:val="̂"/>
                        </m:accPr>
                        <m:e>
                          <m:r>
                            <m:t>ε</m:t>
                          </m:r>
                        </m:e>
                      </m:acc>
                      <m:r>
                        <m:rPr>
                          <m:sty m:val="p"/>
                        </m:rPr>
                        <m:t>∥</m:t>
                      </m:r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3</m:t>
                          </m:r>
                          <m:r>
                            <m:t>λ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2</m:t>
                          </m:r>
                          <m:r>
                            <m:t>μ</m:t>
                          </m:r>
                        </m:num>
                        <m:den>
                          <m:r>
                            <m:t>2</m:t>
                          </m:r>
                          <m:r>
                            <m:t>μ</m:t>
                          </m:r>
                        </m:den>
                      </m:f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nor/>
                          <m:sty m:val="p"/>
                        </m:rPr>
                        <m:t>tr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t>α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c</m:t>
                      </m:r>
                    </m:oMath>
                  </m:oMathPara>
                </a14:m>
              </a:p>
              <a:p>
                <a:pPr lvl="0"/>
                <a:r>
                  <a:rPr b="1"/>
                  <a:t>α</a:t>
                </a:r>
                <a:r>
                  <a:rPr/>
                  <a:t>：摩擦角 → 抗剪强度</a:t>
                </a:r>
              </a:p>
              <a:p>
                <a:pPr lvl="0"/>
                <a:r>
                  <a:rPr b="1"/>
                  <a:t>c</a:t>
                </a:r>
                <a:r>
                  <a:rPr/>
                  <a:t>：cohesion → 零围压下的强度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r>
                      <m:t>γ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 → </a:t>
                </a:r>
                <a:r>
                  <a:rPr b="1"/>
                  <a:t>屈服！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Return Mapping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7D9029"/>
                    </a:solidFill>
                    <a:latin typeface="Courier"/>
                  </a:rPr>
                  <a:t>@ti.func</a:t>
                </a:r>
                <a:br/>
                <a:r>
                  <a:rPr b="1">
                    <a:solidFill>
                      <a:srgbClr val="007020"/>
                    </a:solidFill>
                    <a:latin typeface="Courier"/>
                  </a:rPr>
                  <a:t>def</a:t>
                </a:r>
                <a:r>
                  <a:rPr>
                    <a:latin typeface="Courier"/>
                  </a:rPr>
                  <a:t> sand_projection(sig, cohesion):</a:t>
                </a:r>
                <a:br/>
                <a:r>
                  <a:rPr>
                    <a:latin typeface="Courier"/>
                  </a:rPr>
                  <a:t>    epsilon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log(sig)</a:t>
                </a:r>
                <a:br/>
                <a:r>
                  <a:rPr>
                    <a:latin typeface="Courier"/>
                  </a:rPr>
                  <a:t>    tr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epsilon.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sum</a:t>
                </a:r>
                <a:r>
                  <a:rPr>
                    <a:latin typeface="Courier"/>
                  </a:rPr>
                  <a:t>()</a:t>
                </a:r>
                <a:br/>
                <a:r>
                  <a:rPr>
                    <a:latin typeface="Courier"/>
                  </a:rPr>
                  <a:t>    epsilon_hat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epsilon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(tr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/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3</a:t>
                </a:r>
                <a:r>
                  <a:rPr>
                    <a:latin typeface="Courier"/>
                  </a:rPr>
                  <a:t>)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ones</a:t>
                </a:r>
                <a:br/>
                <a:br/>
                <a:r>
                  <a:rPr>
                    <a:latin typeface="Courier"/>
                  </a:rPr>
                  <a:t>    delta_gamma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(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|</a:t>
                </a:r>
                <a:r>
                  <a:rPr>
                    <a:latin typeface="Courier"/>
                  </a:rPr>
                  <a:t>epsilon_hat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|</a:t>
                </a:r>
                <a:br/>
                <a:r>
                  <a:rPr>
                    <a:latin typeface="Courier"/>
                  </a:rPr>
                  <a:t>       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latin typeface="Courier"/>
                  </a:rPr>
                  <a:t> coeff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tr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alpha_dp</a:t>
                </a:r>
                <a:br/>
                <a:r>
                  <a:rPr>
                    <a:latin typeface="Courier"/>
                  </a:rPr>
                  <a:t>       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cohesion)</a:t>
                </a:r>
                <a:br/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if</a:t>
                </a:r>
                <a:r>
                  <a:rPr>
                    <a:latin typeface="Courier"/>
                  </a:rPr>
                  <a:t> tr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&gt;=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</a:t>
                </a:r>
                <a:r>
                  <a:rPr>
                    <a:latin typeface="Courier"/>
                  </a:rPr>
                  <a:t>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and</a:t>
                </a:r>
                <a:r>
                  <a:rPr>
                    <a:latin typeface="Courier"/>
                  </a:rPr>
                  <a:t> delta_gamma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&gt;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</a:t>
                </a:r>
                <a:r>
                  <a:rPr>
                    <a:latin typeface="Courier"/>
                  </a:rPr>
                  <a:t>:</a:t>
                </a:r>
                <a:br/>
                <a:r>
                  <a:rPr>
                    <a:latin typeface="Courier"/>
                  </a:rPr>
                  <a:t>      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拉伸破坏 → 完全失效</a:t>
                </a:r>
                <a:br/>
                <a:r>
                  <a:rPr>
                    <a:latin typeface="Courier"/>
                  </a:rPr>
                  <a:t>    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>
                    <a:latin typeface="Courier"/>
                  </a:rPr>
                  <a:t> identity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← 碎片！</a:t>
                </a:r>
                <a:br/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elif</a:t>
                </a:r>
                <a:r>
                  <a:rPr>
                    <a:latin typeface="Courier"/>
                  </a:rPr>
                  <a:t> delta_gamma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&gt;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</a:t>
                </a:r>
                <a:r>
                  <a:rPr>
                    <a:latin typeface="Courier"/>
                  </a:rPr>
                  <a:t>:</a:t>
                </a:r>
                <a:br/>
                <a:r>
                  <a:rPr>
                    <a:latin typeface="Courier"/>
                  </a:rPr>
                  <a:t>      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压缩屈服 → 投影回屈服面</a:t>
                </a:r>
                <a:br/>
                <a:r>
                  <a:rPr>
                    <a:latin typeface="Courier"/>
                  </a:rPr>
                  <a:t>        epsilon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-=</a:t>
                </a:r>
                <a:r>
                  <a:rPr>
                    <a:latin typeface="Courier"/>
                  </a:rPr>
                  <a:t> (Δγ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/|</a:t>
                </a:r>
                <a:r>
                  <a:rPr>
                    <a:latin typeface="Courier"/>
                  </a:rPr>
                  <a:t>ε̂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|</a:t>
                </a:r>
                <a:r>
                  <a:rPr>
                    <a:latin typeface="Courier"/>
                  </a:rPr>
                  <a:t>)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ε̂</a:t>
                </a:r>
                <a:br/>
                <a:r>
                  <a:rPr>
                    <a:latin typeface="Courier"/>
                  </a:rPr>
                  <a:t>    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>
                    <a:latin typeface="Courier"/>
                  </a:rPr>
                  <a:t> exp(epsilon)</a:t>
                </a:r>
                <a:br/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>
                    <a:latin typeface="Courier"/>
                  </a:rPr>
                  <a:t> sig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弹性范围，不变</a:t>
                </a:r>
              </a:p>
              <a:p>
                <a:pPr lvl="0" indent="0" marL="0">
                  <a:buNone/>
                </a:pPr>
                <a:r>
                  <a:rPr b="1"/>
                  <a:t>拉伸破坏</a:t>
                </a:r>
                <a:r>
                  <a:rPr/>
                  <a:t> (tr ≥ 0)：Σ → I，粒子失去所有应力 → 变成自由碎片</a:t>
                </a:r>
              </a:p>
              <a:p>
                <a:pPr lvl="0" indent="0" marL="0">
                  <a:buNone/>
                </a:pPr>
                <a:r>
                  <a:rPr/>
                  <a:t>这就是 </a:t>
                </a:r>
                <a:r>
                  <a:rPr b="1"/>
                  <a:t>shattering</a:t>
                </a:r>
                <a:r>
                  <a:rPr/>
                  <a:t> 的物理机制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Damage 累积与级联失效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Damage 模型</a:t>
                </a:r>
              </a:p>
              <a:p>
                <a:pPr lvl="0" indent="0" marL="0">
                  <a:buNone/>
                </a:pPr>
                <a:r>
                  <a:rPr/>
                  <a:t>每次屈服事件累积 damage：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d</m:t>
                          </m:r>
                        </m:e>
                        <m:sub>
                          <m:r>
                            <m:t>n</m:t>
                          </m:r>
                          <m:r>
                            <m:t>e</m:t>
                          </m:r>
                          <m: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d</m:t>
                          </m:r>
                        </m:e>
                        <m:sub>
                          <m:r>
                            <m:t>o</m:t>
                          </m:r>
                          <m:r>
                            <m:t>l</m:t>
                          </m:r>
                          <m:r>
                            <m:t>d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Δ</m:t>
                      </m:r>
                      <m:r>
                        <m:t>γ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Cohesion 随 damage 退化：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e</m:t>
                          </m:r>
                          <m:r>
                            <m:t>f</m:t>
                          </m:r>
                          <m:r>
                            <m:t>f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p"/>
                        </m:rPr>
                        <m:t>max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0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 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t>d</m:t>
                              </m:r>
                            </m:num>
                            <m:den>
                              <m:sSub>
                                <m:e>
                                  <m:r>
                                    <m:t>d</m:t>
                                  </m:r>
                                </m:e>
                                <m:sub>
                                  <m:r>
                                    <m:t>s</m:t>
                                  </m:r>
                                  <m:r>
                                    <m:t>h</m:t>
                                  </m:r>
                                  <m:r>
                                    <m:t>a</m:t>
                                  </m:r>
                                  <m:r>
                                    <m:t>t</m:t>
                                  </m:r>
                                  <m:r>
                                    <m:t>t</m:t>
                                  </m:r>
                                  <m:r>
                                    <m:t>e</m:t>
                                  </m:r>
                                  <m:r>
                                    <m:t>r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正反馈 → 裂纹扩展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应力集中 → 局部屈服
     → damage 增加
         → cohesion 降低
             → 更容易屈服
                 → 裂纹扩展
                     → 结构粉碎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视觉反馈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Damage 等级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颜色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状态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棕色 🟫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完好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0-50%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暗红色 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开裂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50-100%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灰色 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碎片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参数控制</a:t>
            </a:r>
          </a:p>
          <a:p>
            <a:pPr lvl="0" indent="0">
              <a:buNone/>
            </a:pPr>
            <a:r>
              <a:rPr>
                <a:latin typeface="Courier"/>
              </a:rPr>
              <a:t>COHESION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0.01</a:t>
            </a:r>
            <a:r>
              <a:rPr>
                <a:latin typeface="Courier"/>
              </a:rPr>
              <a:t>       </a:t>
            </a:r>
            <a:r>
              <a:rPr i="1">
                <a:solidFill>
                  <a:srgbClr val="60A0B0"/>
                </a:solidFill>
                <a:latin typeface="Courier"/>
              </a:rPr>
              <a:t># 屈服面偏移</a:t>
            </a:r>
            <a:br/>
            <a:r>
              <a:rPr>
                <a:latin typeface="Courier"/>
              </a:rPr>
              <a:t>SHATTER_DAMAGE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# 完全失效阈值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强结构（水冲不动）：COHESION = 0.05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弱结构（容易碎）：  COHESION = 0.003</a:t>
            </a:r>
          </a:p>
          <a:p>
            <a:pPr lvl="0" indent="0" marL="0">
              <a:buNone/>
            </a:pPr>
            <a:r>
              <a:rPr/>
              <a:t>Damage 模型让破碎不是”全有或全无”，而是</a:t>
            </a:r>
            <a:r>
              <a:rPr b="1"/>
              <a:t>渐进的</a:t>
            </a:r>
            <a:r>
              <a:rPr/>
              <a:t>—— 先出现裂纹，然后扩展，最后整个结构崩塌。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场景：大坝溃坝冲击桥墩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几何设置</a:t>
            </a:r>
          </a:p>
          <a:p>
            <a:pPr lvl="0" indent="0">
              <a:buNone/>
            </a:pPr>
            <a:r>
              <a:rPr>
                <a:latin typeface="Courier"/>
              </a:rPr>
              <a:t>  ┌──────────────────────────────┐
  │                              │
  │  ████                        │
  │  ████   gap   ▐▌  ▐▌  ▐▌  ▐▌│
  │  ████  ═════► ▐▌  ▐▌  ▐▌  ▐▌│
  │  ████         ▐▌  ▐▌  ▐▌  ▐▌│
  │  ████         ▐▌  ▐▌  ▐▌  ▐▌│
  │  water     4 bridge pillars  │
  └──────────────────────────────┘
        64³ grid, ~270K 粒子</a:t>
            </a:r>
          </a:p>
          <a:p>
            <a:pPr lvl="0"/>
            <a:r>
              <a:rPr b="1"/>
              <a:t>水块</a:t>
            </a:r>
            <a:r>
              <a:rPr/>
              <a:t>：248K 粒子，全宽度</a:t>
            </a:r>
          </a:p>
          <a:p>
            <a:pPr lvl="0"/>
            <a:r>
              <a:rPr b="1"/>
              <a:t>4 根桥墩</a:t>
            </a:r>
            <a:r>
              <a:rPr/>
              <a:t>：21.6K 粒子（5400 每根）</a:t>
            </a:r>
          </a:p>
          <a:p>
            <a:pPr lvl="0"/>
            <a:r>
              <a:rPr/>
              <a:t>水从左侧溃坝 → 冲击桥墩</a:t>
            </a:r>
          </a:p>
          <a:p>
            <a:pPr lvl="0"/>
            <a:r>
              <a:rPr/>
              <a:t>水流穿过桥墩间隙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时间线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事件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0 - 0.25s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桥墩在重力下稳定（弹性沉降 ~3%）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0.25 - 0.5s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水波前到达桥墩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0.5 - 0.75s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水压持续增加，桥墩开始变形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0.75 - 1.0s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裂纹扩展，桥墩开始崩塌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1.0 - 1.5s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结构完全粉碎，碎片被水流冲走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交互控制</a:t>
            </a:r>
            <a:r>
              <a:rPr/>
              <a:t>： - SPACE：开始/暂停 - R：重置 - RMB：旋转摄像机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开发中遇到的关键问题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调试历程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原因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解决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模拟爆炸 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低质量 grid 节点积累原始动量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grid_ops 中质量 &lt; 1e-6 的节点清零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结构未被水击就自行滑动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Jp_sand 双重计算体积应变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移除 Jp_sand 反馈回屈服检查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结构在重力下完全坍塌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应力公式缺少 inv_dx² 因子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APIC 离散化需要 </a:t>
                      </a:r>
                      <a:r>
                        <a:rPr>
                          <a:latin typeface="Courier"/>
                        </a:rPr>
                        <a:t>4·inv_dx²·p_vol/J·τ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水无法推动结构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水和固体使用不同应力约定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两种材料统一使用 inv_dx² 因子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结构不碎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COHESION 太高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分析屈服条件，降低到弹性应变量级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最关键的 Bug：缺少 inv_dx²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错误 ❌ — 应力比重力弱 4096 倍</a:t>
            </a:r>
            <a:br/>
            <a:r>
              <a:rPr>
                <a:latin typeface="Courier"/>
              </a:rPr>
              <a:t>stress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dt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p_vol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J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tau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正确 ✅ — APIC 力离散化的标准形式</a:t>
            </a:r>
            <a:br/>
            <a:r>
              <a:rPr>
                <a:latin typeface="Courier"/>
              </a:rPr>
              <a:t>stress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dt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inv_dx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inv_dx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p_vol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J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tau</a:t>
            </a:r>
          </a:p>
          <a:p>
            <a:pPr lvl="0" indent="0" marL="0">
              <a:buNone/>
            </a:pPr>
            <a:r>
              <a:rPr/>
              <a:t>inv_dx² = 64² = 4096。没有这个因子，固体的弹性应力完全无法抵抗重力。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参数调优：平衡稳定性与可破碎性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矛盾</a:t>
            </a:r>
          </a:p>
          <a:p>
            <a:pPr lvl="0"/>
            <a:r>
              <a:rPr b="1"/>
              <a:t>E_sand 太高</a:t>
            </a:r>
            <a:r>
              <a:rPr/>
              <a:t> → 弹性应变太小 → 屈服面永远不触发</a:t>
            </a:r>
          </a:p>
          <a:p>
            <a:pPr lvl="0"/>
            <a:r>
              <a:rPr b="1"/>
              <a:t>E_sand 太低</a:t>
            </a:r>
            <a:r>
              <a:rPr/>
              <a:t> → 重力下就坍塌</a:t>
            </a:r>
          </a:p>
          <a:p>
            <a:pPr lvl="0"/>
            <a:r>
              <a:rPr b="1"/>
              <a:t>COHESION 太高</a:t>
            </a:r>
            <a:r>
              <a:rPr/>
              <a:t> → 水冲不碎</a:t>
            </a:r>
          </a:p>
          <a:p>
            <a:pPr lvl="0"/>
            <a:r>
              <a:rPr b="1"/>
              <a:t>COHESION 太低</a:t>
            </a:r>
            <a:r>
              <a:rPr/>
              <a:t> → 重力下就屈服</a:t>
            </a:r>
          </a:p>
          <a:p>
            <a:pPr lvl="0"/>
            <a:r>
              <a:rPr b="1"/>
              <a:t>friction_angle &lt; 39°</a:t>
            </a:r>
            <a:r>
              <a:rPr/>
              <a:t> → 单轴压缩下自动屈服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解决方案</a:t>
            </a:r>
          </a:p>
          <a:p>
            <a:pPr lvl="0" indent="0">
              <a:buNone/>
            </a:pPr>
            <a:r>
              <a:rPr>
                <a:latin typeface="Courier"/>
              </a:rPr>
              <a:t>E_sand = 400        → 弹性应变 ~0.0005（重力下微变形）
friction_angle = 45° → 摩擦项平衡偏应变（重力不屈服）
COHESION = 0.01     → 水施加剪切时可屈服
重力下：δγ ≈ -COHESION &lt; 0 ✅ 不屈服
水冲击：δγ ≈ 0.09 + 0.07 - 0.01 &gt; 0 ✅ 屈服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物理直觉</a:t>
            </a:r>
          </a:p>
          <a:p>
            <a:pPr lvl="0" indent="0" marL="0">
              <a:buNone/>
            </a:pPr>
            <a:r>
              <a:rPr b="1"/>
              <a:t>为什么 45° 摩擦角能抗重力？</a:t>
            </a:r>
          </a:p>
          <a:p>
            <a:pPr lvl="0" indent="0" marL="0">
              <a:buNone/>
            </a:pPr>
            <a:r>
              <a:rPr/>
              <a:t>单轴压缩下（纯重力）： - 偏应变 ε̂ 和摩擦项几乎</a:t>
            </a:r>
            <a:r>
              <a:rPr b="1"/>
              <a:t>完美抵消</a:t>
            </a:r>
            <a:r>
              <a:rPr/>
              <a:t> - δγ ≈ 0 - COHESION &lt; 0</a:t>
            </a:r>
          </a:p>
          <a:p>
            <a:pPr lvl="0" indent="0" marL="0">
              <a:buNone/>
            </a:pPr>
            <a:r>
              <a:rPr/>
              <a:t>水施加侧向力时（剪切）： - 偏应变</a:t>
            </a:r>
            <a:r>
              <a:rPr b="1"/>
              <a:t>大幅增加</a:t>
            </a:r>
            <a:r>
              <a:rPr/>
              <a:t>（弯矩产生剪切） - 摩擦项增长慢 - δγ &gt; 0 → 屈服</a:t>
            </a:r>
          </a:p>
          <a:p>
            <a:pPr lvl="0" indent="0" marL="0">
              <a:buNone/>
            </a:pPr>
            <a:r>
              <a:rPr b="1"/>
              <a:t>关键洞察</a:t>
            </a:r>
            <a:r>
              <a:rPr/>
              <a:t>：水不是靠”压碎”结构—— 而是施加侧向力产生</a:t>
            </a:r>
            <a:r>
              <a:rPr b="1"/>
              <a:t>弯矩和剪切</a:t>
            </a:r>
            <a:r>
              <a:rPr/>
              <a:t>。 Drucker-Prager 在剪切荷载下比纯压缩更容易屈服。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技术总结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 2 (2D 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 3 (3D 水 + 结构)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维度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2D (128²)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3D (64³)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粒子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~50K 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248K 水 + 21.6K 固体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应力模型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EOS: E·(J-1)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水: EOS, 固体: Hencky + DP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内部状态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标量 J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水: J, 固体: 3×3 </a:t>
                      </a:r>
                      <a:r>
                        <a:rPr b="1"/>
                        <a:t>F</a:t>
                      </a:r>
                      <a:r>
                        <a:rPr/>
                        <a:t> + damage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SVD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不需要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ti.svd(F) → U Σ V^T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屈服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Drucker-Prager return mapping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破碎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Damage 累积 → cohesion 退化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耦合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单材料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共享 grid 自动耦合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统一框架</a:t>
            </a:r>
          </a:p>
          <a:p>
            <a:pPr lvl="0" indent="0" marL="0">
              <a:buNone/>
            </a:pPr>
            <a:r>
              <a:rPr/>
              <a:t>同一套 P2G/G2P 代码 不同材料 = 不同 stress 函数</a:t>
            </a:r>
          </a:p>
          <a:p>
            <a:pPr lvl="0" indent="0" marL="0">
              <a:buNone/>
            </a:pPr>
            <a:r>
              <a:rPr b="1"/>
              <a:t>自动耦合</a:t>
            </a:r>
          </a:p>
          <a:p>
            <a:pPr lvl="0" indent="0" marL="0">
              <a:buNone/>
            </a:pPr>
            <a:r>
              <a:rPr/>
              <a:t>水和固体通过共享 grid 交换动量 → 无需耦合项</a:t>
            </a:r>
          </a:p>
          <a:p>
            <a:pPr lvl="0" indent="0" marL="0">
              <a:buNone/>
            </a:pPr>
            <a:r>
              <a:rPr b="1"/>
              <a:t>Shattering</a:t>
            </a:r>
          </a:p>
          <a:p>
            <a:pPr lvl="0" indent="0" marL="0">
              <a:buNone/>
            </a:pPr>
            <a:r>
              <a:rPr/>
              <a:t>SVD + Drucker-Prager 拉伸破坏 → F 重置 → 碎片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4：为什么 Drucker-Prager 不适合混凝土桥墩？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3 的方法在真实桥梁场景中</a:t>
            </a:r>
            <a:r>
              <a:rPr b="1"/>
              <a:t>失效</a:t>
            </a:r>
            <a:r>
              <a:rPr/>
              <a:t>了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Drucker-Prager 的问题</a:t>
            </a:r>
          </a:p>
          <a:p>
            <a:pPr lvl="0"/>
            <a:r>
              <a:rPr/>
              <a:t>DP 是</a:t>
            </a:r>
            <a:r>
              <a:rPr b="1"/>
              <a:t>剪切屈服</a:t>
            </a:r>
            <a:r>
              <a:rPr/>
              <a:t>准则（摩擦 + 内聚力）</a:t>
            </a:r>
          </a:p>
          <a:p>
            <a:pPr lvl="0"/>
            <a:r>
              <a:rPr/>
              <a:t>适用于：沙土、颗粒材料、岩石碎屑</a:t>
            </a:r>
          </a:p>
          <a:p>
            <a:pPr lvl="0"/>
            <a:r>
              <a:rPr/>
              <a:t>核心假设：材料在</a:t>
            </a:r>
            <a:r>
              <a:rPr b="1"/>
              <a:t>剪切</a:t>
            </a:r>
            <a:r>
              <a:rPr/>
              <a:t>下失效</a:t>
            </a:r>
          </a:p>
          <a:p>
            <a:pPr lvl="0" indent="0" marL="0">
              <a:buNone/>
            </a:pPr>
            <a:r>
              <a:rPr b="1"/>
              <a:t>但混凝土不是这样失效的：</a:t>
            </a:r>
          </a:p>
          <a:p>
            <a:pPr lvl="0"/>
            <a:r>
              <a:rPr/>
              <a:t>混凝土抗压强度极高（~30 MPa）</a:t>
            </a:r>
          </a:p>
          <a:p>
            <a:pPr lvl="0"/>
            <a:r>
              <a:rPr/>
              <a:t>混凝土抗拉强度很低（~3 MPa，仅抗压的 1/10）</a:t>
            </a:r>
          </a:p>
          <a:p>
            <a:pPr lvl="0"/>
            <a:r>
              <a:rPr/>
              <a:t>真实桥墩在洪水中是被</a:t>
            </a:r>
            <a:r>
              <a:rPr b="1"/>
              <a:t>拉裂</a:t>
            </a:r>
            <a:r>
              <a:rPr/>
              <a:t>的，不是被”剪碎”的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实际观察到的问题</a:t>
            </a:r>
          </a:p>
          <a:p>
            <a:pPr lvl="0" indent="0">
              <a:buNone/>
            </a:pPr>
            <a:r>
              <a:rPr>
                <a:latin typeface="Courier"/>
              </a:rPr>
              <a:t>Phase 3 DP 模型应用到桥墩：
❌ 桥墩要么完全不碎（cohesion 稍高）
❌ 要么瞬间全部粉碎（cohesion 稍低）
❌ 没有渐进开裂过程
❌ 碎片行为像"沙子"而非"混凝土块"
❌ 无法模拟桩基冲刷（scour）</a:t>
            </a:r>
          </a:p>
          <a:p>
            <a:pPr lvl="0" indent="0" marL="0">
              <a:buNone/>
            </a:pPr>
            <a:r>
              <a:rPr b="1"/>
              <a:t>需要一个针对混凝土的失效模型。</a:t>
            </a:r>
          </a:p>
        </p:txBody>
      </p:sp>
    </p:spTree>
  </p:cSld>
</p:sld>
</file>

<file path=ppt/slides/slide2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Phase 4 解决方案：Rankine 拉伸失效</a:t></a:r></a:p></p:txBody></p:sp><p:sp><p:nvSpPr><p:cNvPr id="4" name="Text Placeholder 3" /><p:cNvSpPr><a:spLocks noGrp="1" /></p:cNvSpPr><p:nvPr><p:ph idx="2" sz="half" type="body" /></p:nvPr></p:nvSpPr><p:spPr /><p:txBody><a:bodyPr /><a:lstStyle /><a:p><a:pPr lvl="0" indent="0" marL="0"><a:spcBef><a:spcPts val="3000" /></a:spcBef><a:buNone /></a:pPr><a:r><a:rPr b="1" /><a:t>Rankine 准则 vs Drucker-Prager</a:t></a:r></a:p></p:txBody></p:sp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1701800" /><a:gridCol w="1701800" /><a:gridCol w="1701800" /></a:tblGrid><a:tr h="0"><a:tc><a:txBody><a:bodyPr /><a:lstStyle /><a:p><a:endParaRPr /></a:p></a:txBody><a:tcPr /></a:tc><a:tc><a:txBody><a:bodyPr /><a:lstStyle /><a:p><a:pPr lvl="0" indent="0" marL="0"><a:buNone /></a:pPr><a:r><a:rPr /><a:t>Drucker-Prager (Phase 3)</a:t></a:r></a:p></a:txBody><a:tcPr /></a:tc><a:tc><a:txBody><a:bodyPr /><a:lstStyle /><a:p><a:pPr lvl="0" indent="0" marL="0"><a:buNone /></a:pPr><a:r><a:rPr /><a:t>Rankine (Phase 4)</a:t></a:r></a:p></a:txBody><a:tcPr /></a:tc></a:tr><a:tr h="0"><a:tc><a:txBody><a:bodyPr /><a:lstStyle /><a:p><a:pPr lvl="0" indent="0" marL="0"><a:buNone /></a:pPr><a:r><a:rPr /><a:t>失效模式</a:t></a:r></a:p></a:txBody></a:tc><a:tc><a:txBody><a:bodyPr /><a:lstStyle /><a:p><a:pPr lvl="0" indent="0" marL="0"><a:buNone /></a:pPr><a:r><a:rPr /><a:t>剪切</a:t></a:r></a:p></a:txBody></a:tc><a:tc><a:txBody><a:bodyPr /><a:lstStyle /><a:p><a:pPr lvl="0" indent="0" marL="0"><a:buNone /></a:pPr><a:r><a:rPr b="1" /><a:t>拉伸</a:t></a:r></a:p></a:txBody></a:tc></a:tr><a:tr h="0"><a:tc><a:txBody><a:bodyPr /><a:lstStyle /><a:p><a:pPr lvl="0" indent="0" marL="0"><a:buNone /></a:pPr><a:r><a:rPr /><a:t>适用材料</a:t></a:r></a:p></a:txBody></a:tc><a:tc><a:txBody><a:bodyPr /><a:lstStyle /><a:p><a:pPr lvl="0" indent="0" marL="0"><a:buNone /></a:pPr><a:r><a:rPr /><a:t>沙土、颗粒</a:t></a:r></a:p></a:txBody></a:tc><a:tc><a:txBody><a:bodyPr /><a:lstStyle /><a:p><a:pPr lvl="0" indent="0" marL="0"><a:buNone /></a:pPr><a:r><a:rPr b="1" /><a:t>混凝土、岩石</a:t></a:r></a:p></a:txBody></a:tc></a:tr><a:tr h="0"><a:tc><a:txBody><a:bodyPr /><a:lstStyle /><a:p><a:pPr lvl="0" indent="0" marL="0"><a:buNone /></a:pPr><a:r><a:rPr /><a:t>判据</a:t></a:r></a:p></a:txBody></a:tc><a:tc><a:txBody><a:bodyPr /><a:lstStyle /><a:p><a:pPr lvl="0" indent="0" marL="0"><a:buNone /></a:pPr><a14:m><m:oMath xmlns:m="http://schemas.openxmlformats.org/officeDocument/2006/math"><m:r><m:rPr><m:sty m:val="p" /></m:rPr><m:t>∥</m:t></m:r><m:acc><m:accPr><m:chr m:val="̂" /></m:accPr><m:e><m:r><m:t>ε</m:t></m:r></m:e></m:acc><m:r><m:rPr><m:sty m:val="p" /></m:rPr><m:t>∥</m:t></m:r><m:r><m:rPr><m:sty m:val="p" /></m:rPr><m:t>+</m:t></m:r><m:r><m:t>α</m:t></m:r><m:r><m:rPr><m:sty m:val="p" /></m:rPr><m:t>⋅</m:t></m:r><m:r><m:rPr><m:nor /><m:sty m:val="p" /></m:rPr><m:t>tr</m:t></m:r><m:r><m:rPr><m:sty m:val="p" /></m:rPr><m:t>&gt;</m:t></m:r><m:r><m:t>c</m:t></m:r></m:oMath></a14:m></a:p></a:txBody></a:tc><a:tc><a:txBody><a:bodyPr /><a:lstStyle /><a:p><a:pPr lvl="0" indent="0" marL="0"><a:buNone /></a:pPr><a14:m><m:oMath xmlns:m="http://schemas.openxmlformats.org/officeDocument/2006/math"><m:sSub><m:e><m:r><m:t>σ</m:t></m:r></m:e><m:sub><m:r><m:t>m</m:t></m:r><m:r><m:t>a</m:t></m:r><m:r><m:t>x</m:t></m:r></m:sub></m:sSub><m:r><m:rPr><m:sty m:val="p" /></m:rPr><m:t>&gt;</m:t></m:r><m:sSub><m:e><m:r><m:t>f</m:t></m:r></m:e><m:sub><m:r><m:t>t</m:t></m:r></m:sub></m:sSub></m:oMath></a14:m></a:p></a:txBody></a:tc></a:tr><a:tr h="0"><a:tc><a:txBody><a:bodyPr /><a:lstStyle /><a:p><a:pPr lvl="0" indent="0" marL="0"><a:buNone /></a:pPr><a:r><a:rPr /><a:t>破坏特征</a:t></a:r></a:p></a:txBody></a:tc><a:tc><a:txBody><a:bodyPr /><a:lstStyle /><a:p><a:pPr lvl="0" indent="0" marL="0"><a:buNone /></a:pPr><a:r><a:rPr /><a:t>摩擦滑移</a:t></a:r></a:p></a:txBody></a:tc><a:tc><a:txBody><a:bodyPr /><a:lstStyle /><a:p><a:pPr lvl="0" indent="0" marL="0"><a:buNone /></a:pPr><a:r><a:rPr b="1" /><a:t>裂纹扩展</a:t></a:r></a:p></a:txBody></a:tc></a:tr><a:tr h="0"><a:tc><a:txBody><a:bodyPr /><a:lstStyle /><a:p><a:pPr lvl="0" indent="0" marL="0"><a:buNone /></a:pPr><a:r><a:rPr /><a:t>碎片行为</a:t></a:r></a:p></a:txBody></a:tc><a:tc><a:txBody><a:bodyPr /><a:lstStyle /><a:p><a:pPr lvl="0" indent="0" marL="0"><a:buNone /></a:pPr><a:r><a:rPr /><a:t>颗粒散落</a:t></a:r></a:p></a:txBody></a:tc><a:tc><a:txBody><a:bodyPr /><a:lstStyle /><a:p><a:pPr lvl="0" indent="0" marL="0"><a:buNone /></a:pPr><a:r><a:rPr b="1" /><a:t>硬块碎片</a:t></a:r></a:p></a:txBody></a:tc></a:tr></a:tbl></a:graphicData></a:graphic></p:graphicFrame></p:spTree></p:cSld>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核心思路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σ</m:t>
                          </m:r>
                        </m:e>
                        <m:sub>
                          <m:r>
                            <m:t>m</m:t>
                          </m:r>
                          <m:r>
                            <m:t>a</m:t>
                          </m:r>
                          <m: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max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σ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σ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σ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&gt;</m:t>
                      </m:r>
                      <m:sSubSup>
                        <m:e>
                          <m:r>
                            <m:t>f</m:t>
                          </m:r>
                        </m:e>
                        <m:sub>
                          <m:r>
                            <m:t>t</m:t>
                          </m:r>
                        </m:sub>
                        <m:sup>
                          <m:r>
                            <m:t>e</m:t>
                          </m:r>
                          <m:r>
                            <m:t>f</m:t>
                          </m:r>
                          <m:r>
                            <m:t>f</m:t>
                          </m:r>
                        </m:sup>
                      </m:sSub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最大主应力超过（退化后的）抗拉强度 → 损伤累积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实现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7D9029"/>
                    </a:solidFill>
                    <a:latin typeface="Courier"/>
                  </a:rPr>
                  <a:t>@ti.func</a:t>
                </a:r>
                <a:br/>
                <a:r>
                  <a:rPr b="1">
                    <a:solidFill>
                      <a:srgbClr val="007020"/>
                    </a:solidFill>
                    <a:latin typeface="Courier"/>
                  </a:rPr>
                  <a:t>def</a:t>
                </a:r>
                <a:r>
                  <a:rPr>
                    <a:latin typeface="Courier"/>
                  </a:rPr>
                  <a:t> rankine_damage_check(tau_diag, current_damage):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有效抗拉强度随损伤指数衰减</a:t>
                </a:r>
                <a:br/>
                <a:r>
                  <a:rPr>
                    <a:latin typeface="Courier"/>
                  </a:rPr>
                  <a:t>    eff_ft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TENSILE_STRENGTH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exp(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d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/</a:t>
                </a:r>
                <a:r>
                  <a:rPr>
                    <a:latin typeface="Courier"/>
                  </a:rPr>
                  <a:t> d_soft)</a:t>
                </a:r>
                <a:br/>
                <a:br/>
                <a:r>
                  <a:rPr>
                    <a:latin typeface="Courier"/>
                  </a:rPr>
                  <a:t>  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最大主 Kirchhoff 应力</a:t>
                </a:r>
                <a:br/>
                <a:r>
                  <a:rPr>
                    <a:latin typeface="Courier"/>
                  </a:rPr>
                  <a:t>    σ_max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max</a:t>
                </a:r>
                <a:r>
                  <a:rPr>
                    <a:latin typeface="Courier"/>
                  </a:rPr>
                  <a:t>(τ₁, τ₂, τ₃)</a:t>
                </a:r>
                <a:br/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if</a:t>
                </a:r>
                <a:r>
                  <a:rPr>
                    <a:latin typeface="Courier"/>
                  </a:rPr>
                  <a:t> σ_max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&gt;</a:t>
                </a:r>
                <a:r>
                  <a:rPr>
                    <a:latin typeface="Courier"/>
                  </a:rPr>
                  <a:t> eff_ft:</a:t>
                </a:r>
                <a:br/>
                <a:r>
                  <a:rPr>
                    <a:latin typeface="Courier"/>
                  </a:rPr>
                  <a:t>      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超应力 → 累积损伤</a:t>
                </a:r>
                <a:br/>
                <a:r>
                  <a:rPr>
                    <a:latin typeface="Courier"/>
                  </a:rPr>
                  <a:t>        Δd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DAMAGE_RATE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(σ_max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eff_ft)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dt</a:t>
                </a:r>
              </a:p>
              <a:p>
                <a:pPr lvl="0" indent="0" marL="0">
                  <a:buNone/>
                </a:pPr>
                <a:r>
                  <a:rPr b="1"/>
                  <a:t>关键区别</a:t>
                </a:r>
                <a:r>
                  <a:rPr/>
                  <a:t>：DP 在 log-strain 空间做 return mapping（投影回屈服面）， Rankine 在 </a:t>
                </a:r>
                <a:r>
                  <a:rPr b="1"/>
                  <a:t>stress 空间</a:t>
                </a:r>
                <a:r>
                  <a:rPr/>
                  <a:t> 做 damage 累积（不投影，而是软化）。</a:t>
                </a:r>
              </a:p>
              <a:p>
                <a:pPr lvl="0" indent="0" marL="0">
                  <a:buNone/>
                </a:pPr>
                <a:r>
                  <a:rPr/>
                  <a:t>损伤 → 刚度下降 → 应力重分布 → 邻居粒子承受更多 → </a:t>
                </a:r>
                <a:r>
                  <a:rPr b="1"/>
                  <a:t>裂纹扩展</a:t>
                </a:r>
              </a:p>
            </p:txBody>
          </p:sp>
        </mc:Choice>
      </mc:AlternateContent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Damage 演化：从完好到碎块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三阶段退化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损伤 d = 0                    d = d_rubble
  │                                │
  ▼                                ▼
  完好 ──► 开裂 ──► 碎块化
  │         │         │
  共转弹性   刚度指数衰减  切换到 J-based EOS
  (corotational)        (像"重水"一样的硬块)</a:t>
                </a:r>
              </a:p>
              <a:p>
                <a:pPr lvl="0" indent="0" marL="0">
                  <a:buNone/>
                </a:pPr>
                <a:r>
                  <a:rPr b="1"/>
                  <a:t>刚度因子</a:t>
                </a:r>
                <a:r>
                  <a:rPr/>
                  <a:t> = </a:t>
                </a:r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d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sSub>
                          <m:e>
                            <m:r>
                              <m:t>d</m:t>
                            </m:r>
                          </m:e>
                          <m:sub>
                            <m:r>
                              <m:t>s</m:t>
                            </m:r>
                            <m:r>
                              <m:t>o</m:t>
                            </m:r>
                            <m:r>
                              <m:t>f</m:t>
                            </m:r>
                            <m:r>
                              <m:t>t</m:t>
                            </m:r>
                          </m:sub>
                        </m:sSub>
                      </m:sup>
                    </m:sSup>
                  </m:oMath>
                </a14:m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损伤范围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应力模型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颜色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完好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 &lt; 0.3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Hencky + corotational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浅灰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开裂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 – 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退化 Hencky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红褐色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碎块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 ≥ 1.5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J-based EOS (E=1000)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深灰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碎块物理：不是沙子！</a:t>
            </a:r>
          </a:p>
          <a:p>
            <a:pPr lvl="0" indent="0" marL="0">
              <a:buNone/>
            </a:pPr>
            <a:r>
              <a:rPr/>
              <a:t>Phase 3 的碎片像沙子一样散落 → 不真实</a:t>
            </a:r>
          </a:p>
          <a:p>
            <a:pPr lvl="0" indent="0" marL="0">
              <a:buNone/>
            </a:pPr>
            <a:r>
              <a:rPr/>
              <a:t>Phase 4 碎块用 </a:t>
            </a:r>
            <a:r>
              <a:rPr b="1"/>
              <a:t>J-based EOS</a:t>
            </a:r>
            <a:r>
              <a:rPr/>
              <a:t>（类似重水）：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is_rubble: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碎块：用 EOS 抵抗压缩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防止穿透，给出硬碰撞</a:t>
            </a:r>
            <a:br/>
            <a:r>
              <a:rPr>
                <a:latin typeface="Courier"/>
              </a:rPr>
              <a:t>    stress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inv_dx²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p_vol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E_RUBBLE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(J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  </a:t>
            </a:r>
            <a:r>
              <a:rPr i="1">
                <a:solidFill>
                  <a:srgbClr val="60A0B0"/>
                </a:solidFill>
                <a:latin typeface="Courier"/>
              </a:rPr>
              <a:t># 清除弹性记忆</a:t>
            </a:r>
          </a:p>
          <a:p>
            <a:pPr lvl="0"/>
            <a:r>
              <a:rPr/>
              <a:t>碎块不会”溶解”到地面里</a:t>
            </a:r>
          </a:p>
          <a:p>
            <a:pPr lvl="0"/>
            <a:r>
              <a:rPr/>
              <a:t>碰到地板会</a:t>
            </a:r>
            <a:r>
              <a:rPr b="1"/>
              <a:t>弹跳、堆积</a:t>
            </a:r>
          </a:p>
          <a:p>
            <a:pPr lvl="0"/>
            <a:r>
              <a:rPr/>
              <a:t>密度 = 2.4（比水重 → 沉到水底）</a:t>
            </a:r>
          </a:p>
          <a:p>
            <a:pPr lvl="0"/>
            <a:r>
              <a:rPr/>
              <a:t>E_RUBBLE = 1000（比水硬得多）</a:t>
            </a:r>
          </a:p>
          <a:p>
            <a:pPr lvl="0" indent="0" marL="0">
              <a:buNone/>
            </a:pPr>
            <a:r>
              <a:rPr/>
              <a:t>DP 碎片 = 沙子散落 → Rankine 碎块 = </a:t>
            </a:r>
            <a:r>
              <a:rPr b="1"/>
              <a:t>混凝土块翻滚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桩基冲刷：桥梁倒塌的第一大原因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真实工程背景</a:t>
            </a:r>
          </a:p>
          <a:p>
            <a:pPr lvl="0" indent="0" marL="0">
              <a:buNone/>
            </a:pPr>
            <a:r>
              <a:rPr/>
              <a:t>桩基冲刷（scour）是全球桥梁倒塌的</a:t>
            </a:r>
            <a:r>
              <a:rPr b="1"/>
              <a:t>首要原因</a:t>
            </a:r>
            <a:r>
              <a:rPr/>
              <a:t>（FHWA, AASHTO）。</a:t>
            </a:r>
          </a:p>
          <a:p>
            <a:pPr lvl="0" indent="0" marL="0">
              <a:buNone/>
            </a:pPr>
            <a:r>
              <a:rPr/>
              <a:t>洪水在桥墩周围形成涡旋 → 冲刷河床基础 → 桩基逐渐失去支撑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模拟实现</a:t>
            </a:r>
          </a:p>
          <a:p>
            <a:pPr lvl="0" indent="0">
              <a:buNone/>
            </a:pPr>
            <a:r>
              <a:rPr>
                <a:latin typeface="Courier"/>
              </a:rPr>
              <a:t>   水流 ═══════►
            ┌──────┐
    探测点 → │  桥墩  │
    (上游5格) │      │
            │ ████ │ ← 桩基 (3层)
            └──────┘
   ════════ 河床 ════════</a:t>
            </a:r>
          </a:p>
          <a:p>
            <a:pPr lvl="0"/>
            <a:r>
              <a:rPr/>
              <a:t>桥墩底部 3 层为</a:t>
            </a:r>
            <a:r>
              <a:rPr b="1"/>
              <a:t>桩基粒子</a:t>
            </a:r>
            <a:r>
              <a:rPr/>
              <a:t>（pinned）</a:t>
            </a:r>
          </a:p>
          <a:p>
            <a:pPr lvl="0"/>
            <a:r>
              <a:rPr/>
              <a:t>探测上游水流速度（不是桥墩内部的 grid 速度！）</a:t>
            </a:r>
          </a:p>
          <a:p>
            <a:pPr lvl="0"/>
            <a:r>
              <a:rPr/>
              <a:t>水速 &gt; 阈值 → 冲刷 HP 下降</a:t>
            </a:r>
          </a:p>
          <a:p>
            <a:pPr lvl="0"/>
            <a:r>
              <a:rPr/>
              <a:t>HP = 0 → 桩基释放 → 桥墩失去支撑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锚定与释放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桩基粒子：位置混合回锚点</a:t>
            </a:r>
            <a:br/>
            <a:r>
              <a:rPr>
                <a:latin typeface="Courier"/>
              </a:rPr>
              <a:t>blend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min</a:t>
            </a:r>
            <a:r>
              <a:rPr>
                <a:latin typeface="Courier"/>
              </a:rPr>
              <a:t>(scour_hp,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new_pos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blend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anchor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blend)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advected</a:t>
            </a:r>
            <a:br/>
            <a:r>
              <a:rPr>
                <a:latin typeface="Courier"/>
              </a:rPr>
              <a:t>vel </a:t>
            </a:r>
            <a:r>
              <a:rPr>
                <a:solidFill>
                  <a:srgbClr val="666666"/>
                </a:solidFill>
                <a:latin typeface="Courier"/>
              </a:rPr>
              <a:t>*=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blend)  </a:t>
            </a:r>
            <a:r>
              <a:rPr i="1">
                <a:solidFill>
                  <a:srgbClr val="60A0B0"/>
                </a:solidFill>
                <a:latin typeface="Courier"/>
              </a:rPr>
              <a:t># 锚定 → 速度趋零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冲刷侵蚀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water_speed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threshold:</a:t>
            </a:r>
            <a:br/>
            <a:r>
              <a:rPr>
                <a:latin typeface="Courier"/>
              </a:rPr>
              <a:t>    scour_hp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SCOUR_RATE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(speed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thresh)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scour_hp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is_pinned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# 释放！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Phase 4 的破坏时间线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事件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 – 2s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洪水持续冲击，桥墩纹丝不动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– 4s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桩基缓慢冲刷，微小位移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– 5s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桩基释放，桥墩底部失去支撑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– 6s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拉伸应力集中 → 裂纹扩展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– 8s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级联失效，桥墩倒塌入水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Phase 4 场景：洪水 vs 混凝土桥梁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几何设置</a:t>
            </a:r>
          </a:p>
          <a:p>
            <a:pPr lvl="0" indent="0">
              <a:buNone/>
            </a:pPr>
            <a:r>
              <a:rPr>
                <a:latin typeface="Courier"/>
              </a:rPr>
              <a:t>  128×64×64 非正方 grid (X=2.0, Y=1.0, Z=1.0)
     Y ↑
       │    水面 ~~~~~~~~~~~
       │  ████████████████  ← 5 根桥墩
       │  ████████████████
       │  ██ 桩基 ██████
       └─────────────────────► X
      Z ⊙    (河流方向)
  水：~555K 粒子（持续从上游注入）
  桥墩：5 根 × ~5.6K = ~28K 粒子
  总计：~583K 粒子</a:t>
            </a:r>
          </a:p>
          <a:p>
            <a:pPr lvl="0"/>
            <a:r>
              <a:rPr/>
              <a:t>粒子回收：下游出界 → 传送回上游（无限洪水）</a:t>
            </a:r>
          </a:p>
          <a:p>
            <a:pPr lvl="0"/>
            <a:r>
              <a:rPr/>
              <a:t>河道坡度力：body force 模拟河床坡度</a:t>
            </a:r>
          </a:p>
          <a:p>
            <a:pPr lvl="0"/>
            <a:r>
              <a:rPr/>
              <a:t>可调洪水流速：UP/DOWN 键实时调节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与 Phase 3 的关键区别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 4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场景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大坝溃坝（脉冲）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持续洪水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失效模型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Drucker-Prager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Rankine 拉伸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碎片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沙粒散落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硬块碎片 (EOS)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基础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桩基锚定 + 冲刷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64³ 正方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128×64×64 非正方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水供给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有限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无限（粒子回收）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材料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E=400 “沙子”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E=10000 混凝土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控制</a:t>
            </a:r>
            <a:r>
              <a:rPr/>
              <a:t>： - SPACE：开始 / 暂停 - UP/DOWN：调节洪水流速（±0.5，最大 10.0） - R：重置 - RMB：旋转摄像机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已知问题：水粒子附着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现象</a:t>
            </a:r>
          </a:p>
          <a:p>
            <a:pPr lvl="0" indent="0" marL="0">
              <a:buNone/>
            </a:pPr>
            <a:r>
              <a:rPr/>
              <a:t>水粒子会”粘”在河床和桥墩表面，形成不自然的薄层：</a:t>
            </a:r>
          </a:p>
          <a:p>
            <a:pPr lvl="0" indent="0">
              <a:buNone/>
            </a:pPr>
            <a:r>
              <a:rPr>
                <a:latin typeface="Courier"/>
              </a:rPr>
              <a:t>  正常水体
  ████████████████
  ████████████████
                    ┌─────┐
  ~~残留薄层~~~~~ → │桥墩 │ ← 水粒子附着
  ━━━━━━━━━━━━━━━━━━┘     │
  · · · · · · · · ·       │
  ↑ 河床上的残留粒子       │
  ━━━━━━━━━━━━━━━━━━━━━━━━┘</a:t>
            </a:r>
          </a:p>
          <a:p>
            <a:pPr lvl="0" indent="0" marL="0">
              <a:buNone/>
            </a:pPr>
            <a:r>
              <a:rPr/>
              <a:t>这些粒子失去了动能，既不能回到主水体， 也不能脱离表面——被”困住”了。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原因分析（MPM 的固有局限）</a:t>
            </a:r>
          </a:p>
          <a:p>
            <a:pPr lvl="0" indent="0" marL="0">
              <a:buNone/>
            </a:pPr>
            <a:r>
              <a:rPr b="1"/>
              <a:t>1. 速度阻尼</a:t>
            </a:r>
          </a:p>
          <a:p>
            <a:pPr lvl="0" indent="0">
              <a:buNone/>
            </a:pPr>
            <a:r>
              <a:rPr>
                <a:latin typeface="Courier"/>
              </a:rPr>
              <a:t>vel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new_v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dt)  </a:t>
            </a:r>
            <a:r>
              <a:rPr i="1">
                <a:solidFill>
                  <a:srgbClr val="60A0B0"/>
                </a:solidFill>
                <a:latin typeface="Courier"/>
              </a:rPr>
              <a:t># 全局阻尼</a:t>
            </a:r>
          </a:p>
          <a:p>
            <a:pPr lvl="0" indent="0" marL="0">
              <a:buNone/>
            </a:pPr>
            <a:r>
              <a:rPr/>
              <a:t>近表面低速粒子被持续衰减 → 速度趋零</a:t>
            </a:r>
          </a:p>
          <a:p>
            <a:pPr lvl="0" indent="0" marL="0">
              <a:buNone/>
            </a:pPr>
            <a:r>
              <a:rPr b="1"/>
              <a:t>2. 边界条件将法向速度置零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j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bound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vy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vy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# 不允许穿透，但也不弹开</a:t>
            </a:r>
          </a:p>
          <a:p>
            <a:pPr lvl="0" indent="0" marL="0">
              <a:buNone/>
            </a:pPr>
            <a:r>
              <a:rPr/>
              <a:t>粒子沉降到地面后”停住”，无排斥力将其推离</a:t>
            </a:r>
          </a:p>
          <a:p>
            <a:pPr lvl="0" indent="0" marL="0">
              <a:buNone/>
            </a:pPr>
            <a:r>
              <a:rPr b="1"/>
              <a:t>3. Grid 速度平滑</a:t>
            </a:r>
          </a:p>
          <a:p>
            <a:pPr lvl="0" indent="0" marL="0">
              <a:buNone/>
            </a:pPr>
            <a:r>
              <a:rPr/>
              <a:t>MPM 的 grid 传输天然平滑速度场。 近表面粒子插值到的 grid 速度已被边界”拖慢”， 形成</a:t>
            </a:r>
            <a:r>
              <a:rPr b="1"/>
              <a:t>速度边界层</a:t>
            </a:r>
            <a:r>
              <a:rPr/>
              <a:t> → 粒子无法逃逸</a:t>
            </a:r>
          </a:p>
          <a:p>
            <a:pPr lvl="0" indent="0" marL="0">
              <a:buNone/>
            </a:pPr>
            <a:r>
              <a:rPr b="1"/>
              <a:t>4. 缺少表面分离机制</a:t>
            </a:r>
          </a:p>
          <a:p>
            <a:pPr lvl="0" indent="0" marL="0">
              <a:buNone/>
            </a:pPr>
            <a:r>
              <a:rPr/>
              <a:t>真实流体有表面张力帮助液滴脱离。 MPM 的 EOS 压力是各向同性的， 无法提供定向的”脱离力”。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总结与展望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已完成</a:t>
            </a:r>
          </a:p>
          <a:p>
            <a:pPr lvl="0"/>
            <a:r>
              <a:rPr/>
              <a:t>Phase 1: 2D Euler 烟雾（MAC grid + Poisson）</a:t>
            </a:r>
          </a:p>
          <a:p>
            <a:pPr lvl="0"/>
            <a:r>
              <a:rPr/>
              <a:t>Phase 2: 2D MLS-MPM 水（EOS 替代 Poisson）</a:t>
            </a:r>
          </a:p>
          <a:p>
            <a:pPr lvl="0"/>
            <a:r>
              <a:rPr/>
              <a:t>Phase 3: 3D MLS-MPM 水 + 固体破碎</a:t>
            </a:r>
          </a:p>
          <a:p>
            <a:pPr lvl="1"/>
            <a:r>
              <a:rPr/>
              <a:t>Drucker-Prager 弹塑性（适合沙土）</a:t>
            </a:r>
          </a:p>
          <a:p>
            <a:pPr lvl="1"/>
            <a:r>
              <a:rPr/>
              <a:t>SVD return mapping + damage</a:t>
            </a:r>
          </a:p>
          <a:p>
            <a:pPr lvl="0"/>
            <a:r>
              <a:rPr/>
              <a:t>Phase 4: 3D 洪水 vs 混凝土桥梁</a:t>
            </a:r>
          </a:p>
          <a:p>
            <a:pPr lvl="1"/>
            <a:r>
              <a:rPr/>
              <a:t>DP → </a:t>
            </a:r>
            <a:r>
              <a:rPr b="1"/>
              <a:t>Rankine 拉伸失效</a:t>
            </a:r>
            <a:r>
              <a:rPr/>
              <a:t>（适合混凝土）</a:t>
            </a:r>
          </a:p>
          <a:p>
            <a:pPr lvl="1"/>
            <a:r>
              <a:rPr/>
              <a:t>桩基锚定 + 冲刷侵蚀</a:t>
            </a:r>
          </a:p>
          <a:p>
            <a:pPr lvl="1"/>
            <a:r>
              <a:rPr/>
              <a:t>碎块 EOS 物理（硬块，不是沙子）</a:t>
            </a:r>
          </a:p>
          <a:p>
            <a:pPr lvl="1"/>
            <a:r>
              <a:rPr/>
              <a:t>5 桥墩 + 无限洪水（粒子回收）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材料模型演进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材料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失效模型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EOS (J-based)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水 + 沙土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EOS + </a:t>
                      </a:r>
                      <a:r>
                        <a:rPr b="1"/>
                        <a:t>Drucker-Prager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水 + 混凝土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EOS + </a:t>
                      </a:r>
                      <a:r>
                        <a:rPr b="1"/>
                        <a:t>Rankine 拉伸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关键教训</a:t>
            </a:r>
            <a:r>
              <a:rPr/>
              <a:t>：没有万能的失效模型。 沙土 → 剪切失效 (DP)，混凝土 → 拉伸失效 (Rankine)。 选对模型比调参数重要得多。</a:t>
            </a:r>
          </a:p>
          <a:p>
            <a:pPr lvl="0" indent="0" marL="0">
              <a:buNone/>
            </a:pPr>
            <a:r>
              <a:rPr b="1"/>
              <a:t>MLS-MPM 的精髓</a:t>
            </a:r>
            <a:r>
              <a:rPr/>
              <a:t>：核心框架（P2G → grid_ops → G2P）始终不变， 换一个 stress 函数就能模拟从水到沙土到混凝土碎裂的一切。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2-4: MLS-MPM — From 2D Water to Flood vs Bridge</dc:title>
  <dc:creator/>
  <cp:keywords/>
  <dcterms:created xsi:type="dcterms:W3CDTF">2026-02-26T08:57:59Z</dcterms:created>
  <dcterms:modified xsi:type="dcterms:W3CDTF">2026-02-26T08:57:59Z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