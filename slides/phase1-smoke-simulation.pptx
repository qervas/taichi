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Phase 1: 2D Eulerian Smoke Simulation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1: 2D Eulerian Smoke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MAC Grid · MacCormack Advection · Red-Black Gauss-Seidel</a:t>
            </a:r>
          </a:p>
          <a:p>
            <a:pPr lvl="0" indent="0">
              <a:buNone/>
            </a:pPr>
            <a:r>
              <a:rPr>
                <a:latin typeface="Courier"/>
              </a:rPr>
              <a:t>基于 &lt;b&gt;Taichi&lt;/b&gt; 构建 — 支持 CPU / CUDA / Vulkan 实时运行</a:t>
            </a:r>
          </a:p>
        </p:txBody>
      </p:sp>
    </p:spTree>
  </p:cSld>
</p:sld>
</file>

<file path=ppt/slides/slide3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控制方程</a:t></a:r></a:p></p:txBody></p:sp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不可压缩 Navier-Stokes 方程（简化版——省略粘性项）：</a:t></a:r></a:p><a:p><a:pPr lvl="0" indent="0" marL="0"><a:buNone /></a:pPr><a14:m><m:oMath xmlns:m="http://schemas.openxmlformats.org/officeDocument/2006/math"><m:f><m:fPr><m:type m:val="bar" /></m:fPr><m:num><m:r><m:rPr><m:sty m:val="p" /></m:rPr><m:t>∂</m:t></m:r><m:r><m:rPr><m:sty m:val="bi" /></m:rPr><m:t>u</m:t></m:r></m:num><m:den><m:r><m:rPr><m:sty m:val="p" /></m:rPr><m:t>∂</m:t></m:r><m:r><m:t>t</m:t></m:r></m:den></m:f><m:r><m:rPr><m:sty m:val="p" /></m:rPr><m:t>+</m:t></m:r><m:r><m:rPr><m:sty m:val="p" /></m:rPr><m:t>(</m:t></m:r><m:r><m:rPr><m:sty m:val="bi" /></m:rPr><m:t>u</m:t></m:r><m:r><m:rPr><m:sty m:val="p" /></m:rPr><m:t>⋅</m:t></m:r><m:r><m:rPr><m:sty m:val="p" /></m:rPr><m:t>∇</m:t></m:r><m:r><m:rPr><m:sty m:val="p" /></m:rPr><m:t>)</m:t></m:r><m:r><m:rPr><m:sty m:val="bi" /></m:rPr><m:t>u</m:t></m:r><m:r><m:rPr><m:sty m:val="p" /></m:rPr><m:t>=</m:t></m:r><m:r><m:rPr><m:sty m:val="p" /></m:rPr><m:t>−</m:t></m:r><m:r><m:rPr><m:sty m:val="p" /></m:rPr><m:t>∇</m:t></m:r><m:r><m:t>p</m:t></m:r><m:r><m:rPr><m:sty m:val="p" /></m:rPr><m:t>+</m:t></m:r><m:r><m:rPr><m:sty m:val="bi" /></m:rPr><m:t>f</m:t></m:r></m:oMath></a14:m></a:p><a:p><a:pPr lvl="0" indent="0" marL="0"><a:buNone /></a:pPr><a14:m><m:oMath xmlns:m="http://schemas.openxmlformats.org/officeDocument/2006/math"><m:r><m:rPr><m:sty m:val="p" /></m:rPr><m:t>∇</m:t></m:r><m:r><m:rPr><m:sty m:val="p" /></m:rPr><m:t>⋅</m:t></m:r><m:r><m:rPr><m:sty m:val="bi" /></m:rPr><m:t>u</m:t></m:r><m:r><m:rPr><m:sty m:val="p" /></m:rPr><m:t>=</m:t></m:r><m:r><m:t>0</m:t></m:r></m:oMath></a14:m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701800" /><a:gridCol w="1701800" /><a:gridCol w="1701800" /></a:tblGrid><a:tr h="0"><a:tc><a:txBody><a:bodyPr /><a:lstStyle /><a:p><a:pPr lvl="0" indent="0" marL="0"><a:buNone /></a:pPr><a:r><a:rPr /><a:t>方程项</a:t></a:r></a:p></a:txBody><a:tcPr /></a:tc><a:tc><a:txBody><a:bodyPr /><a:lstStyle /><a:p><a:pPr lvl="0" indent="0" marL="0"><a:buNone /></a:pPr><a:r><a:rPr /><a:t>物理意义</a:t></a:r></a:p></a:txBody><a:tcPr /></a:tc><a:tc><a:txBody><a:bodyPr /><a:lstStyle /><a:p><a:pPr lvl="0" indent="0" marL="0"><a:buNone /></a:pPr><a:r><a:rPr /><a:t>代码实现</a:t></a:r></a:p></a:txBody><a:tcPr /></a:tc></a:tr><a:tr h="0"><a:tc><a:txBody><a:bodyPr /><a:lstStyle /><a:p><a:pPr lvl="0" indent="0" marL="0"><a:buNone /></a:pPr><a14:m><m:oMath xmlns:m="http://schemas.openxmlformats.org/officeDocument/2006/math"><m:r><m:rPr><m:sty m:val="p" /></m:rPr><m:t>(</m:t></m:r><m:r><m:rPr><m:sty m:val="bi" /></m:rPr><m:t>u</m:t></m:r><m:r><m:rPr><m:sty m:val="p" /></m:rPr><m:t>⋅</m:t></m:r><m:r><m:rPr><m:sty m:val="p" /></m:rPr><m:t>∇</m:t></m:r><m:r><m:rPr><m:sty m:val="p" /></m:rPr><m:t>)</m:t></m:r><m:r><m:rPr><m:sty m:val="bi" /></m:rPr><m:t>u</m:t></m:r></m:oMath></a14:m></a:p></a:txBody></a:tc><a:tc><a:txBody><a:bodyPr /><a:lstStyle /><a:p><a:pPr lvl="0" indent="0" marL="0"><a:buNone /></a:pPr><a:r><a:rPr /><a:t>Advection — 流体携带自身运动</a:t></a:r></a:p></a:txBody></a:tc><a:tc><a:txBody><a:bodyPr /><a:lstStyle /><a:p><a:pPr lvl="0" indent="0" marL="0"><a:buNone /></a:pPr><a:r><a:rPr><a:latin typeface="Courier" /></a:rPr><a:t>maccormack_advect_*()</a:t></a:r></a:p></a:txBody></a:tc></a:tr><a:tr h="0"><a:tc><a:txBody><a:bodyPr /><a:lstStyle /><a:p><a:pPr lvl="0" indent="0" marL="0"><a:buNone /></a:pPr><a14:m><m:oMath xmlns:m="http://schemas.openxmlformats.org/officeDocument/2006/math"><m:r><m:rPr><m:sty m:val="p" /></m:rPr><m:t>−</m:t></m:r><m:r><m:rPr><m:sty m:val="p" /></m:rPr><m:t>∇</m:t></m:r><m:r><m:t>p</m:t></m:r></m:oMath></a14:m></a:p></a:txBody></a:tc><a:tc><a:txBody><a:bodyPr /><a:lstStyle /><a:p><a:pPr lvl="0" indent="0" marL="0"><a:buNone /></a:pPr><a:r><a:rPr /><a:t>Pressure gradient — 保证不可压缩性</a:t></a:r></a:p></a:txBody></a:tc><a:tc><a:txBody><a:bodyPr /><a:lstStyle /><a:p><a:pPr lvl="0" indent="0" marL="0"><a:buNone /></a:pPr><a:r><a:rPr><a:latin typeface="Courier" /></a:rPr><a:t>project()</a:t></a:r></a:p></a:txBody></a:tc></a:tr><a:tr h="0"><a:tc><a:txBody><a:bodyPr /><a:lstStyle /><a:p><a:pPr lvl="0" indent="0" marL="0"><a:buNone /></a:pPr><a14:m><m:oMath xmlns:m="http://schemas.openxmlformats.org/officeDocument/2006/math"><m:r><m:rPr><m:sty m:val="bi" /></m:rPr><m:t>f</m:t></m:r></m:oMath></a14:m></a:p></a:txBody></a:tc><a:tc><a:txBody><a:bodyPr /><a:lstStyle /><a:p><a:pPr lvl="0" indent="0" marL="0"><a:buNone /></a:pPr><a:r><a:rPr /><a:t>External forces — 外部作用力</a:t></a:r></a:p></a:txBody></a:tc><a:tc><a:txBody><a:bodyPr /><a:lstStyle /><a:p><a:pPr lvl="0" indent="0" marL="0"><a:buNone /></a:pPr><a:r><a:rPr><a:latin typeface="Courier" /></a:rPr><a:t>add_buoyancy()</a:t></a:r><a:r><a:rPr /><a:t>, </a:t></a:r><a:r><a:rPr><a:latin typeface="Courier" /></a:rPr><a:t>add_vorticity_force()</a:t></a:r></a:p></a:txBody></a:tc></a:tr><a:tr h="0"><a:tc><a:txBody><a:bodyPr /><a:lstStyle /><a:p><a:pPr lvl="0" indent="0" marL="0"><a:buNone /></a:pPr><a14:m><m:oMath xmlns:m="http://schemas.openxmlformats.org/officeDocument/2006/math"><m:r><m:rPr><m:sty m:val="p" /></m:rPr><m:t>∇</m:t></m:r><m:r><m:rPr><m:sty m:val="p" /></m:rPr><m:t>⋅</m:t></m:r><m:r><m:rPr><m:sty m:val="bi" /></m:rPr><m:t>u</m:t></m:r><m:r><m:rPr><m:sty m:val="p" /></m:rPr><m:t>=</m:t></m:r><m:r><m:t>0</m:t></m:r></m:oMath></a14:m></a:p></a:txBody></a:tc><a:tc><a:txBody><a:bodyPr /><a:lstStyle /><a:p><a:pPr lvl="0" indent="0" marL="0"><a:buNone /></a:pPr><a:r><a:rPr /><a:t>Divergence-free constraint — 散度为零</a:t></a:r></a:p></a:txBody></a:tc><a:tc><a:txBody><a:bodyPr /><a:lstStyle /><a:p><a:pPr lvl="0" indent="0" marL="0"><a:buNone /></a:pPr><a:r><a:rPr><a:latin typeface="Courier" /></a:rPr><a:t>gs_red()</a:t></a:r><a:r><a:rPr /><a:t> / </a:t></a:r><a:r><a:rPr><a:latin typeface="Courier" /></a:rPr><a:t>gs_black()</a:t></a:r><a:r><a:rPr /><a:t> → </a:t></a:r><a:r><a:rPr><a:latin typeface="Courier" /></a:rPr><a:t>project()</a:t></a:r></a:p></a:txBody></a:tc></a:tr></a:tbl></a:graphicData></a:graphic></p:graphicFrame></p:spTree></p:cSld>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一帧五步骤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 Inject — 鼠标输入 → dye、temperature、velocity</a:t>
            </a:r>
          </a:p>
          <a:p>
            <a:pPr lvl="0" indent="0" marL="0">
              <a:buNone/>
            </a:pPr>
            <a:r>
              <a:rPr/>
              <a:t>2 Advect — MacCormack: forward SL + error correction</a:t>
            </a:r>
          </a:p>
          <a:p>
            <a:pPr lvl="0" indent="0" marL="0">
              <a:buNone/>
            </a:pPr>
            <a:r>
              <a:rPr/>
              <a:t>3 Body Forces — buoyancy + vorticity confinement</a:t>
            </a:r>
          </a:p>
          <a:p>
            <a:pPr lvl="0" indent="0" marL="0">
              <a:buNone/>
            </a:pPr>
            <a:r>
              <a:rPr/>
              <a:t>4 Boundaries — 边界处法向速度归零</a:t>
            </a:r>
          </a:p>
          <a:p>
            <a:pPr lvl="0" indent="0" marL="0">
              <a:buNone/>
            </a:pPr>
            <a:r>
              <a:rPr/>
              <a:t>5 Pressure Solve — RB-GS Poisson + projection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step_frame(mouse_down, mx, my, mdx, mdy):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1. 用户交互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mouse_down:</a:t>
            </a:r>
            <a:br/>
            <a:r>
              <a:rPr>
                <a:latin typeface="Courier"/>
              </a:rPr>
              <a:t>        inject(mx, my, mdx, mdy)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2. MacCormack advection (两遍)</a:t>
            </a:r>
            <a:br/>
            <a:r>
              <a:rPr>
                <a:latin typeface="Courier"/>
              </a:rPr>
              <a:t>    maccormack_advect_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_forward(DT)</a:t>
            </a:r>
            <a:br/>
            <a:r>
              <a:rPr>
                <a:latin typeface="Courier"/>
              </a:rPr>
              <a:t>    maccormack_advect_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_correct(DT)</a:t>
            </a:r>
            <a:br/>
            <a:r>
              <a:rPr>
                <a:latin typeface="Courier"/>
              </a:rPr>
              <a:t>    swap_advected()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3. Body forces</a:t>
            </a:r>
            <a:br/>
            <a:r>
              <a:rPr>
                <a:latin typeface="Courier"/>
              </a:rPr>
              <a:t>    add_buoyancy(DT)</a:t>
            </a:r>
            <a:br/>
            <a:r>
              <a:rPr>
                <a:latin typeface="Courier"/>
              </a:rPr>
              <a:t>    compute_curl()</a:t>
            </a:r>
            <a:br/>
            <a:r>
              <a:rPr>
                <a:latin typeface="Courier"/>
              </a:rPr>
              <a:t>    add_vorticity_force(DT)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4 &amp; 5. Pressure solve + projection</a:t>
            </a:r>
            <a:br/>
            <a:r>
              <a:rPr>
                <a:latin typeface="Courier"/>
              </a:rPr>
              <a:t>    apply_boundary()</a:t>
            </a:r>
            <a:br/>
            <a:r>
              <a:rPr>
                <a:latin typeface="Courier"/>
              </a:rPr>
              <a:t>    compute_divergence()</a:t>
            </a:r>
            <a:br/>
            <a:r>
              <a:rPr>
                <a:latin typeface="Courier"/>
              </a:rPr>
              <a:t>    pressure_zero()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(GS_ITERS):</a:t>
            </a:r>
            <a:br/>
            <a:r>
              <a:rPr>
                <a:latin typeface="Courier"/>
              </a:rPr>
              <a:t>        gs_red(p)</a:t>
            </a:r>
            <a:br/>
            <a:r>
              <a:rPr>
                <a:latin typeface="Courier"/>
              </a:rPr>
              <a:t>        gs_black(p)</a:t>
            </a:r>
            <a:br/>
            <a:r>
              <a:rPr>
                <a:latin typeface="Courier"/>
              </a:rPr>
              <a:t>    project()</a:t>
            </a:r>
            <a:br/>
            <a:r>
              <a:rPr>
                <a:latin typeface="Courier"/>
              </a:rPr>
              <a:t>    apply_boundary()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MAC Staggered Grid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v[i,j+1]
      ↑</a:t>
            </a:r>
          </a:p>
          <a:p>
            <a:pPr lvl="0" indent="0" marL="0">
              <a:buNone/>
            </a:pPr>
            <a:r>
              <a:rPr/>
              <a:t>───────┼─────── │ │ u[i,j]→ p[i,j] ←u[i+1,j] │ dye, temp │ ───────┼─────── ↑ v[i,j]</a:t>
            </a:r>
          </a:p>
          <a:p>
            <a:pPr lvl="0" indent="0" marL="0">
              <a:buNone/>
            </a:pPr>
            <a:r>
              <a:rPr b="1"/>
              <a:t>512×512 grid 上的 field 尺寸：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位置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(513, 512)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垂直 cell faces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(512, 513)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水平 cell faces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dye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temp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(512, 512)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 centers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为什么要 stagger？</a:t>
            </a:r>
          </a:p>
          <a:p>
            <a:pPr lvl="0" indent="0" marL="0">
              <a:buNone/>
            </a:pPr>
            <a:r>
              <a:rPr b="1"/>
              <a:t>Collocated grid</a:t>
            </a:r>
            <a:r>
              <a:rPr/>
              <a:t>（全在 cell center）： - Pressure 和 velocity 在交替 cells 上解耦 - → “Checkerboard instability” 🟥⬜🟥⬜</a:t>
            </a:r>
          </a:p>
          <a:p>
            <a:pPr lvl="0" indent="0" marL="0">
              <a:buNone/>
            </a:pPr>
            <a:r>
              <a:rPr b="1"/>
              <a:t>MAC grid</a:t>
            </a:r>
            <a:r>
              <a:rPr/>
              <a:t>（staggered）： - Divergence = </a:t>
            </a:r>
            <a:r>
              <a:rPr>
                <a:latin typeface="Courier"/>
              </a:rPr>
              <a:t>u[i+1,j] - u[i,j] + v[i,j+1] - v[i,j]</a:t>
            </a:r>
            <a:r>
              <a:rPr/>
              <a:t> - </a:t>
            </a:r>
            <a:r>
              <a:rPr b="1"/>
              <a:t>精确计算</a:t>
            </a:r>
            <a:r>
              <a:rPr/>
              <a:t>——无需 interpolation！ - 工业标准（Houdini、FLIP solvers）</a:t>
            </a:r>
          </a:p>
          <a:p>
            <a:pPr lvl="0" indent="0" marL="0">
              <a:buNone/>
            </a:pPr>
            <a:r>
              <a:rPr/>
              <a:t>💡 Staggering 增加了采样的复杂度， 但消除了 pressure artifacts 的头号来源。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 Grid: Field 声明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```python {1-6|8-11|13-17|all} # Velocity: staggered 在 cell faces 上（每个分量 3 个 buffer 用于 MacCormack） u = ti.field(dtype=ti.f32, shape=(NX + 1, NY)) # 水平速度 @ 垂直 faces v = ti.field(dtype=ti.f32, shape=(NX, NY + 1)) # 垂直速度 @ 水平 faces u_new = ti.field(dtype=ti.f32, shape=(NX + 1, NY)) # MacCormack 修正后 v_new = ti.field(dtype=ti.f32, shape=(NX, NY + 1)) u_tmp = ti.field(dtype=ti.f32, shape=(NX + 1, NY)) # MacCormack 第一步（plain SL）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Pressure — RB-GS 原地更新（不需要第二个 buffer！）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 = ti.field(dtype=ti.f32, shape=(NX, NY)) div = ti.field(dtype=ti.f32, shape=(NX, NY))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Cell-center scalar/vector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dye = ti.Vector.field(3, dtype=ti.f32, shape=(NX, NY)) dye_new = ti.Vector.field(3, dtype=ti.f32, shape=(NX, NY)) dye_tmp = ti.Vector.field(3, dtype=ti.f32, shape=(NX, NY)) temp = ti.field(dtype=ti.f32, shape=(NX, NY)) temp_new = ti.field(dtype=ti.f32, shape=(NX, NY))</a:t>
            </a:r>
          </a:p>
          <a:p>
            <a:pPr lvl="0" indent="0">
              <a:buNone/>
            </a:pPr>
            <a:r>
              <a:rPr>
                <a:latin typeface="Courier"/>
              </a:rPr>
              <a:t>
**每个 velocity 分量需要 3 个 buffer** 用于 MacCormack: `current` → `tmp` (forward pass) → `new` (corrected)
Pressure 只需要 **1 个 buffer** — Red-Black Gauss-Seidel 原地更新（不像 Jacobi 需要 ping-pong）
# Advection：核心问题
</a:t>
            </a:r>
          </a:p>
          <a:p>
            <a:pPr lvl="0" indent="0" marL="0">
              <a:buNone/>
            </a:pPr>
            <a:r>
              <a:rPr/>
              <a:t>时刻 t+dt（现在） 时刻 t（过去）</a:t>
            </a:r>
          </a:p>
          <a:p>
            <a:pPr lvl="0" indent="0" marL="0">
              <a:buNone/>
            </a:pPr>
            <a:r>
              <a:rPr/>
              <a:t>Grid point X ◄──backtrace── 这团流体 │ 一个 dt 前在哪？ │ ┌─────────────┐ │ │ 在这里采样 │ │ └─────────────┘ │ │ └─────────────────────┘ 把值拷贝过来</a:t>
            </a:r>
          </a:p>
          <a:p>
            <a:pPr lvl="0" indent="0">
              <a:buNone/>
            </a:pPr>
            <a:r>
              <a:rPr>
                <a:latin typeface="Courier"/>
              </a:rPr>
              <a:t>
### Semi-Lagrangian Advection
- 对每个 grid point：通过 velocity field **向后追踪**
- 找到流体来自哪里，**采样**那里的值，拷贝到当前位置
- **无条件稳定** — 永远从现有 grid 采样（无 CFL limit）
### 问题所在
&gt; 每一帧，bilinear interpolation 都会**模糊**细节。
&gt; 就像反复缩放 JPEG — 每一步都损失信息。
&gt; 这就是 **1st-order numerical diffusion**。我们需要 MacCormack 来对抗它。
# RK3：精确回溯
### Euler（1 次采样）— 便宜但不准
$$\mathbf{x}_{back} = \mathbf{x} - \Delta t \cdot \mathbf{v}(\mathbf{x})$$
沿直线走。如果 velocity 有曲线就会出错。
### RK3（3 次采样）— 追踪真实路径
$$k_1 = \mathbf{v}(\mathbf{x})$$
$$k_2 = \mathbf{v}(\mathbf{x} - 0.5 \Delta t \cdot k_1)$$
$$k_3 = \mathbf{v}(\mathbf{x} - 0.75 \Delta t \cdot k_2)$$
$$\mathbf{x}_{back} = \mathbf{x} - \Delta t \left(\tfrac{2}{9}k_1 + \tfrac{1}{3}k_2 + \tfrac{4}{9}k_3\right)$$
每次 trace 做 3 次 velocity 评估 → 路径追踪更准确。
```python
@ti.func
def backtrace_rk3(x, y, dt):
    pos = ti.Vector([x, y])
    k1 = vel_at(pos[0], pos[1])
    p1 = pos - 0.5 * dt * k1
    k2 = vel_at(p1[0], p1[1])
    p2 = pos - 0.75 * dt * k2
    k3 = vel_at(p2[0], p2[1])
    pb = pos - dt * (
        (2.0/9.0)*k1 +
        (1.0/3.0)*k2 +
        (4.0/9.0)*k3
    )
    # Clamp 到域内
    pb[0] = clampf(pb[0], 0.5, NX-0.5)
    pb[1] = clampf(pb[1], 0.5, NY-0.5)
    return pb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MacCormack：误差修正的 Advection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第 1 步：Forward SL</a:t>
                </a:r>
              </a:p>
              <a:p>
                <a:pPr lvl="0" indent="0" marL="0">
                  <a:buNone/>
                </a:pPr>
                <a:r>
                  <a:rPr/>
                  <a:t>正常 backtrace </a:t>
                </a:r>
                <a14:m>
                  <m:oMath xmlns:m="http://schemas.openxmlformats.org/officeDocument/2006/math"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t</m:t>
                        </m:r>
                        <m:r>
                          <m:t>m</m:t>
                        </m:r>
                        <m: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nor/>
                        <m:sty m:val="p"/>
                      </m:rPr>
                      <m:t>sample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nor/>
                        <m:sty m:val="p"/>
                      </m:rPr>
                      <m:t>backtrace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bi"/>
                      </m:rP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</a:t>
                </a:r>
                <a:r>
                  <a:rPr i="1"/>
                  <a:t>（“模糊”的结果）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第 2 步：Error Estimate</a:t>
                </a:r>
              </a:p>
              <a:p>
                <a:pPr lvl="0" indent="0" marL="0">
                  <a:buNone/>
                </a:pPr>
                <a:r>
                  <a:rPr/>
                  <a:t>把 </a:t>
                </a:r>
                <a14:m>
                  <m:oMath xmlns:m="http://schemas.openxmlformats.org/officeDocument/2006/math"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t</m:t>
                        </m:r>
                        <m:r>
                          <m:t>m</m:t>
                        </m:r>
                        <m:r>
                          <m:t>p</m:t>
                        </m:r>
                      </m:sub>
                    </m:sSub>
                  </m:oMath>
                </a14:m>
                <a:r>
                  <a:rPr/>
                  <a:t> forward-trace 回去 </a:t>
                </a:r>
                <a14:m>
                  <m:oMath xmlns:m="http://schemas.openxmlformats.org/officeDocument/2006/math"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v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nor/>
                        <m:sty m:val="p"/>
                      </m:rPr>
                      <m:t>sample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nor/>
                        <m:sty m:val="p"/>
                      </m:rPr>
                      <m:t>forwardtrace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rPr>
                            <m:sty m:val="bi"/>
                          </m:rPr>
                          <m:t>x</m:t>
                        </m:r>
                      </m:e>
                      <m:sub>
                        <m:r>
                          <m:t>b</m:t>
                        </m:r>
                        <m:r>
                          <m:t>a</m:t>
                        </m:r>
                        <m:r>
                          <m:t>c</m:t>
                        </m:r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</a:t>
                </a:r>
                <a:r>
                  <a:rPr i="1"/>
                  <a:t>（“撤销” backtrace）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第 3 步：Correct + Clamp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n</m:t>
                        </m:r>
                        <m:r>
                          <m:t>e</m:t>
                        </m:r>
                        <m:r>
                          <m:t>w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t</m:t>
                        </m:r>
                        <m:r>
                          <m:t>m</m:t>
                        </m:r>
                        <m: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o</m:t>
                        </m:r>
                        <m:r>
                          <m:t>r</m:t>
                        </m:r>
                        <m:r>
                          <m:t>i</m:t>
                        </m:r>
                        <m: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v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clamp 到相邻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rPr>
                        <m:sty m:val="p"/>
                      </m:rPr>
                      <m:t>min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max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 </a:t>
                </a:r>
                <a:r>
                  <a:rPr i="1"/>
                  <a:t>(TVD limiter)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ϕ</m:t>
                          </m:r>
                        </m:e>
                        <m:sup>
                          <m:r>
                            <m:t>c</m:t>
                          </m:r>
                          <m:r>
                            <m:t>o</m:t>
                          </m:r>
                          <m:r>
                            <m:t>r</m:t>
                          </m:r>
                          <m:r>
                            <m:t>r</m:t>
                          </m:r>
                          <m:r>
                            <m:t>e</m:t>
                          </m:r>
                          <m:r>
                            <m:t>c</m:t>
                          </m:r>
                          <m:r>
                            <m:t>t</m:t>
                          </m:r>
                          <m:r>
                            <m:t>e</m:t>
                          </m:r>
                          <m:r>
                            <m:t>d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ϕ</m:t>
                          </m:r>
                        </m:e>
                        <m:sup>
                          <m:r>
                            <m:t>S</m:t>
                          </m:r>
                          <m:r>
                            <m:t>L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limLow>
                        <m:e>
                          <m:limLow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p>
                                <m:e>
                                  <m:r>
                                    <m:t>ϕ</m:t>
                                  </m:r>
                                </m:e>
                                <m:sup>
                                  <m:r>
                                    <m:t>o</m:t>
                                  </m:r>
                                  <m:r>
                                    <m:t>r</m:t>
                                  </m:r>
                                  <m:r>
                                    <m:t>i</m:t>
                                  </m:r>
                                  <m:r>
                                    <m:t>g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sSup>
                                <m:e>
                                  <m:r>
                                    <m:t>ϕ</m:t>
                                  </m:r>
                                </m:e>
                                <m:sup>
                                  <m:r>
                                    <m:t>r</m:t>
                                  </m:r>
                                  <m:r>
                                    <m:t>e</m:t>
                                  </m:r>
                                  <m:r>
                                    <m:t>v</m:t>
                                  </m:r>
                                  <m:r>
                                    <m:t>e</m:t>
                                  </m:r>
                                  <m:r>
                                    <m:t>r</m:t>
                                  </m:r>
                                  <m:r>
                                    <m:t>s</m:t>
                                  </m:r>
                                  <m:r>
                                    <m:t>e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误差估计</m:t>
                          </m:r>
                        </m:lim>
                      </m:limLow>
                    </m:oMath>
                  </m:oMathPara>
                </a14:m>
              </a:p>
              <a:p>
                <a:pPr lvl="0" indent="0" marL="1270000">
                  <a:buNone/>
                </a:pPr>
                <a:r>
                  <a:rPr sz="2000"/>
                  <a:t>如果 backtrace → forward-trace 完美，</a:t>
                </a:r>
                <a14:m>
                  <m:oMath xmlns:m="http://schemas.openxmlformats.org/officeDocument/2006/math"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v</m:t>
                        </m:r>
                      </m:sub>
                    </m:sSub>
                  </m:oMath>
                </a14:m>
                <a:r>
                  <a:rPr sz="2000"/>
                  <a:t> 应该等于 </a:t>
                </a:r>
                <a14:m>
                  <m:oMath xmlns:m="http://schemas.openxmlformats.org/officeDocument/2006/math"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o</m:t>
                        </m:r>
                        <m:r>
                          <m:t>r</m:t>
                        </m:r>
                        <m:r>
                          <m:t>i</m:t>
                        </m:r>
                        <m:r>
                          <m:t>g</m:t>
                        </m:r>
                      </m:sub>
                    </m:sSub>
                  </m:oMath>
                </a14:m>
                <a:r>
                  <a:rPr sz="2000"/>
                  <a:t>。 两者的差异衡量了 semi-Lagrangian </a:t>
                </a:r>
                <a:r>
                  <a:rPr sz="2000" b="1"/>
                  <a:t>撒了多少谎</a:t>
                </a:r>
                <a:r>
                  <a:rPr sz="2000"/>
                  <a:t> — 我们加回一半作为修正。 TVD clamp：修正值</a:t>
                </a:r>
                <a:r>
                  <a:rPr sz="2000" b="1"/>
                  <a:t>永远不超过</a:t>
                </a:r>
                <a:r>
                  <a:rPr sz="2000"/>
                  <a:t>源点邻居的范围 → 稳定。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MacCormack：代码实现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```python {1-7|9-19|all} # Pass 1：标准 semi-Lagrangian → u_tmp（“模糊”的结果） @ti.kernel def maccormack_advect_u_forward(dt: ti.f32): for i, j in u: x, y = i * 1.0, j + 0.5 # MAC grid 上的 u-face 位置 pb = backtrace_rk3(x, y, dt) # 这团流体从哪来？ u_tmp[i, j] = sample_u(pb[0], pb[1]) # 采样 → 存到 tmp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 2：误差修正 → u_new（清晰的结果）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@ti.kernel def maccormack_advect_u_correct(dt: ti.f32): for i, j in u: x, y = i * 1.0, j + 0.5 pb = backtrace_rk3(x, y, dt) # 同样的 backtrace 点 pf = forwardtrace_rk3(pb[0], pb[1], dt) # “撤销” backtrace reverse_val = sample_u(pf[0], pf[1]) # 应该 ≈ 原始值 corrected = u_tmp[i,j] + 0.5*(u[i,j] - reverse_val) # 误差修正 fmin, fmax = get_u_minmax(pb[0], pb[1]) # TVD limiter 边界 u_new[i, j] = clampf(corrected, fmin, fmax) # clamp → 安全</a:t>
            </a:r>
          </a:p>
          <a:p>
            <a:pPr lvl="0" indent="0">
              <a:buNone/>
            </a:pPr>
            <a:r>
              <a:rPr>
                <a:latin typeface="Courier"/>
              </a:rPr>
              <a:t>
**开销：** advection 工作量约 2 倍（每个量两次 trace）。但 advection 相比 pressure solve 很便宜——视觉质量的提升值得。
应用于**所有 4 个量**：`u`、`v`、`dye` (vec3)、`temp` → 共 8 次 kernel launches。
# Body Forces：Buoyancy
热流体上升，密流体下沉：
$f_y = \alpha \cdot T - \beta \cdot \rho$
| 参数 | 值 | 效果 |
|---|---|---|
| $\alpha$ | 1.2 | Temperature → 向上的力 |
| $\beta$ | 0.08 | Dye density → 向下的拉力 |
- 只作用于**垂直速度** `v`
- Temperature 在每个 v-face 相邻的两个 cells 上取平均
- 产生经典的**上升羽流**行为
```python
@ti.kernel
def add_buoyancy(dt: ti.f32):
    for i, j in v:
        if 1 &lt;= j &lt; NY:
            # 在 v-face 上平均 temp
            t_avg = 0.5 * (
                temp[i, j-1] + temp[i, j]
            )
            # 平均 dye density
            d0 = dye[i, j-1]
            d1 = dye[i, j]
            dens = 0.5 * (
                (d0[0]+d0[1]+d0[2]) +
                (d1[0]+d1[1]+d1[2])
            ) / 3.0
            v[i,j] += dt * (
                BUOY_ALPHA * t_avg
              - BUOY_BETA * dens
            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Vorticity Confinement：保持旋涡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问题</a:t>
                </a:r>
              </a:p>
              <a:p>
                <a:pPr lvl="0" indent="0" marL="0">
                  <a:buNone/>
                </a:pPr>
                <a:r>
                  <a:rPr/>
                  <a:t>Numerical diffusion 逐渐</a:t>
                </a:r>
                <a:r>
                  <a:rPr b="1"/>
                  <a:t>消灭小旋涡</a:t>
                </a:r>
                <a:r>
                  <a:rPr/>
                  <a:t>。 烟雾失去其湍流、漩涡般的特征。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解决方案</a:t>
                </a:r>
              </a:p>
              <a:p>
                <a:pPr lvl="0" indent="0" marL="0">
                  <a:buNone/>
                </a:pPr>
                <a:r>
                  <a:rPr/>
                  <a:t>检测现有旋涡 → 增强它们。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Curl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ω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∂</m:t>
                        </m:r>
                        <m:r>
                          <m:t>v</m:t>
                        </m:r>
                      </m:num>
                      <m:den>
                        <m:r>
                          <m:rPr>
                            <m:sty m:val="p"/>
                          </m:rPr>
                          <m:t>∂</m:t>
                        </m:r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∂</m:t>
                        </m:r>
                        <m:r>
                          <m:t>u</m:t>
                        </m:r>
                      </m:num>
                      <m:den>
                        <m:r>
                          <m:rPr>
                            <m:sty m:val="p"/>
                          </m:rPr>
                          <m:t>∂</m:t>
                        </m:r>
                        <m:r>
                          <m:t>y</m:t>
                        </m:r>
                      </m:den>
                    </m:f>
                  </m:oMath>
                </a14:m>
                <a:r>
                  <a:rPr/>
                  <a:t> 每个 cell center 的”自旋”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Gradient</a:t>
                </a:r>
                <a:r>
                  <a:rPr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|</m:t>
                    </m:r>
                    <m:r>
                      <m:t>ω</m:t>
                    </m:r>
                    <m:r>
                      <m:rPr>
                        <m:sty m:val="p"/>
                      </m:rPr>
                      <m:t>|</m:t>
                    </m:r>
                  </m:oMath>
                </a14:m>
                <a:r>
                  <a:rPr/>
                  <a:t> 指向旋涡中心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Normalize</a:t>
                </a:r>
                <a:r>
                  <a:rPr/>
                  <a:t> → 方向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N</m:t>
                        </m:r>
                      </m:e>
                    </m:acc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Force</a:t>
                </a:r>
                <a:r>
                  <a:rPr/>
                  <a:t> = </a:t>
                </a:r>
                <a14:m>
                  <m:oMath xmlns:m="http://schemas.openxmlformats.org/officeDocument/2006/math">
                    <m:r>
                      <m:t>ε</m:t>
                    </m:r>
                    <m:r>
                      <m:rPr>
                        <m:sty m:val="p"/>
                      </m:rPr>
                      <m:t>⋅</m:t>
                    </m:r>
                    <m:r>
                      <m:rPr>
                        <m:sty m:val="p"/>
                      </m:rPr>
                      <m:t>(</m:t>
                    </m:r>
                    <m:acc>
                      <m:accPr>
                        <m:chr m:val="̂"/>
                      </m:accPr>
                      <m:e>
                        <m:r>
                          <m:t>N</m:t>
                        </m:r>
                      </m:e>
                    </m:acc>
                    <m:r>
                      <m:rPr>
                        <m:sty m:val="p"/>
                      </m:rPr>
                      <m:t>×</m:t>
                    </m:r>
                    <m:r>
                      <m:t>ω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把流体推向旋涡核心</a:t>
                </a:r>
              </a:p>
              <a:p>
                <a:pPr lvl="0" indent="0" marL="0">
                  <a:buNone/>
                </a:pPr>
                <a:r>
                  <a:rPr>
                    <a:latin typeface="Courier"/>
                  </a:rPr>
                  <a:t>VORT_EPS = 28.0</a:t>
                </a:r>
                <a:r>
                  <a:rPr/>
                  <a:t> — 调节旋钮。 越高 = 旋涡细节越明显。</a:t>
                </a:r>
              </a:p>
              <a:p>
                <a:pPr lvl="0" indent="0">
                  <a:buNone/>
                </a:pPr>
                <a:r>
                  <a:rPr i="1">
                    <a:solidFill>
                      <a:srgbClr val="60A0B0"/>
                    </a:solidFill>
                    <a:latin typeface="Courier"/>
                  </a:rPr>
                  <a:t># 1. Curl（每个 cell 的自旋）</a:t>
                </a:r>
                <a:br/>
                <a:r>
                  <a:rPr>
                    <a:solidFill>
                      <a:srgbClr val="7D9029"/>
                    </a:solidFill>
                    <a:latin typeface="Courier"/>
                  </a:rPr>
                  <a:t>@ti.kernel</a:t>
                </a:r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compute_curl():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i, j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curl:</a:t>
                </a:r>
                <a:br/>
                <a:r>
                  <a:rPr>
                    <a:latin typeface="Courier"/>
                  </a:rPr>
                  <a:t>        vr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sample_v(i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1.0</a:t>
                </a:r>
                <a:r>
                  <a:rPr>
                    <a:latin typeface="Courier"/>
                  </a:rPr>
                  <a:t>, j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0.5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        vl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sample_v(i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1.0</a:t>
                </a:r>
                <a:r>
                  <a:rPr>
                    <a:latin typeface="Courier"/>
                  </a:rPr>
                  <a:t>, j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0.5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        ut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sample_u(i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0.5</a:t>
                </a:r>
                <a:r>
                  <a:rPr>
                    <a:latin typeface="Courier"/>
                  </a:rPr>
                  <a:t>, j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1.0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        ub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sample_u(i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0.5</a:t>
                </a:r>
                <a:r>
                  <a:rPr>
                    <a:latin typeface="Courier"/>
                  </a:rPr>
                  <a:t>, j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1.0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        curl[i,j]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(vr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vl)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(ut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ub)</a:t>
                </a:r>
                <a:br/>
                <a:br/>
                <a:r>
                  <a:rPr i="1">
                    <a:solidFill>
                      <a:srgbClr val="60A0B0"/>
                    </a:solidFill>
                    <a:latin typeface="Courier"/>
                  </a:rPr>
                  <a:t># 2-4. Gradient → normalize → force</a:t>
                </a:r>
                <a:br/>
                <a:r>
                  <a:rPr>
                    <a:solidFill>
                      <a:srgbClr val="7D9029"/>
                    </a:solidFill>
                    <a:latin typeface="Courier"/>
                  </a:rPr>
                  <a:t>@ti.kernel</a:t>
                </a:r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add_vorticity_force(dt: ti.f32):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i, j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curl: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|curl| 的 gradient</a:t>
                </a:r>
                <a:br/>
                <a:r>
                  <a:rPr>
                    <a:latin typeface="Courier"/>
                  </a:rPr>
                  <a:t>        dw_dx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0.5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(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abs</a:t>
                </a:r>
                <a:r>
                  <a:rPr>
                    <a:latin typeface="Courier"/>
                  </a:rPr>
                  <a:t>(curl[ir,j])</a:t>
                </a:r>
                <a:br/>
                <a:r>
                  <a:rPr>
                    <a:latin typeface="Courier"/>
                  </a:rPr>
                  <a:t>                     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abs</a:t>
                </a:r>
                <a:r>
                  <a:rPr>
                    <a:latin typeface="Courier"/>
                  </a:rPr>
                  <a:t>(curl[il,j]))</a:t>
                </a:r>
                <a:br/>
                <a:r>
                  <a:rPr>
                    <a:latin typeface="Courier"/>
                  </a:rPr>
                  <a:t>        dw_dy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0.5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(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abs</a:t>
                </a:r>
                <a:r>
                  <a:rPr>
                    <a:latin typeface="Courier"/>
                  </a:rPr>
                  <a:t>(curl[i,jt])</a:t>
                </a:r>
                <a:br/>
                <a:r>
                  <a:rPr>
                    <a:latin typeface="Courier"/>
                  </a:rPr>
                  <a:t>                     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abs</a:t>
                </a:r>
                <a:r>
                  <a:rPr>
                    <a:latin typeface="Courier"/>
                  </a:rPr>
                  <a:t>(curl[i,jb]))</a:t>
                </a:r>
                <a:br/>
                <a:r>
                  <a:rPr>
                    <a:latin typeface="Courier"/>
                  </a:rPr>
                  <a:t>        n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Vector([dw_dx, dw_dy])</a:t>
                </a:r>
                <a:br/>
                <a:r>
                  <a:rPr>
                    <a:latin typeface="Courier"/>
                  </a:rPr>
                  <a:t>        n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n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/</a:t>
                </a:r>
                <a:r>
                  <a:rPr>
                    <a:latin typeface="Courier"/>
                  </a:rPr>
                  <a:t> (n.norm()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1e-5</a:t>
                </a:r>
                <a:r>
                  <a:rPr>
                    <a:latin typeface="Courier"/>
                  </a:rPr>
                  <a:t>)</a:t>
                </a:r>
                <a:br/>
                <a:br/>
                <a:r>
                  <a:rPr>
                    <a:latin typeface="Courier"/>
                  </a:rPr>
                  <a:t>     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2D cross：旋转 90°</a:t>
                </a:r>
                <a:br/>
                <a:r>
                  <a:rPr>
                    <a:latin typeface="Courier"/>
                  </a:rPr>
                  <a:t>        f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VORT_EPS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Vector(</a:t>
                </a:r>
                <a:br/>
                <a:r>
                  <a:rPr>
                    <a:latin typeface="Courier"/>
                  </a:rPr>
                  <a:t>            [n[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],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n[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latin typeface="Courier"/>
                  </a:rPr>
                  <a:t>]]</a:t>
                </a:r>
                <a:br/>
                <a:r>
                  <a:rPr>
                    <a:latin typeface="Courier"/>
                  </a:rPr>
                  <a:t>        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curl[i, j]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Pressure Projection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Helmholtz-Hodge 分解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bi"/>
                      </m:rPr>
                      <m:t>u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rPr>
                            <m:sty m:val="bi"/>
                          </m:rPr>
                          <m:t>u</m:t>
                        </m:r>
                      </m:e>
                      <m:sup>
                        <m:r>
                          <m:rPr>
                            <m:nor/>
                            <m:sty m:val="p"/>
                          </m:rPr>
                          <m:t>div-free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∇</m:t>
                    </m:r>
                    <m:r>
                      <m:t>p</m:t>
                    </m:r>
                  </m:oMath>
                </a14:m>
              </a:p>
              <a:p>
                <a:pPr lvl="0" indent="0" marL="1270000">
                  <a:buNone/>
                </a:pPr>
                <a:r>
                  <a:rPr sz="2000"/>
                  <a:t>任意向量场 = divergence-free 部分 + 某个 scalar 的 gradient。 求解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 sz="2000"/>
                  <a:t>，减去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∇</m:t>
                    </m:r>
                    <m:r>
                      <m:t>p</m:t>
                    </m:r>
                  </m:oMath>
                </a14:m>
                <a:r>
                  <a:rPr sz="2000"/>
                  <a:t> → 剩下的就是 divergence-free。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Poisson 方程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∇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∇</m:t>
                    </m:r>
                    <m:r>
                      <m:rPr>
                        <m:sty m:val="p"/>
                      </m:rPr>
                      <m:t>⋅</m:t>
                    </m:r>
                    <m:r>
                      <m:rPr>
                        <m:sty m:val="bi"/>
                      </m:rPr>
                      <m:t>u</m:t>
                    </m:r>
                  </m:oMath>
                </a14:m>
              </a:p>
              <a:p>
                <a:pPr lvl="0" indent="0">
                  <a:buNone/>
                </a:pPr>
                <a:r>
                  <a:rPr i="1">
                    <a:solidFill>
                      <a:srgbClr val="60A0B0"/>
                    </a:solidFill>
                    <a:latin typeface="Courier"/>
                  </a:rPr>
                  <a:t># Divergence：在 MAC grid 上精确计算</a:t>
                </a:r>
                <a:br/>
                <a:r>
                  <a:rPr>
                    <a:solidFill>
                      <a:srgbClr val="7D9029"/>
                    </a:solidFill>
                    <a:latin typeface="Courier"/>
                  </a:rPr>
                  <a:t>@ti.kernel</a:t>
                </a:r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compute_divergence():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i, j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div:</a:t>
                </a:r>
                <a:br/>
                <a:r>
                  <a:rPr>
                    <a:latin typeface="Courier"/>
                  </a:rPr>
                  <a:t>        div[i,j]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(u[i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,j]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u[i,j])</a:t>
                </a:r>
                <a:br/>
                <a:r>
                  <a:rPr>
                    <a:latin typeface="Courier"/>
                  </a:rPr>
                  <a:t>                 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(v[i,j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]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v[i,j])</a:t>
                </a:r>
              </a:p>
              <a:p>
                <a:pPr lvl="0" indent="0">
                  <a:buNone/>
                </a:pPr>
                <a:r>
                  <a:rPr i="1">
                    <a:solidFill>
                      <a:srgbClr val="60A0B0"/>
                    </a:solidFill>
                    <a:latin typeface="Courier"/>
                  </a:rPr>
                  <a:t># Projection：减去 pressure gradient</a:t>
                </a:r>
                <a:br/>
                <a:r>
                  <a:rPr>
                    <a:solidFill>
                      <a:srgbClr val="7D9029"/>
                    </a:solidFill>
                    <a:latin typeface="Courier"/>
                  </a:rPr>
                  <a:t>@ti.kernel</a:t>
                </a:r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project():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i, j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u: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if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&lt;</a:t>
                </a:r>
                <a:r>
                  <a:rPr>
                    <a:latin typeface="Courier"/>
                  </a:rPr>
                  <a:t> i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&lt;</a:t>
                </a:r>
                <a:r>
                  <a:rPr>
                    <a:latin typeface="Courier"/>
                  </a:rPr>
                  <a:t> NX:</a:t>
                </a:r>
                <a:br/>
                <a:r>
                  <a:rPr>
                    <a:latin typeface="Courier"/>
                  </a:rPr>
                  <a:t>            u[i,j]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-=</a:t>
                </a:r>
                <a:r>
                  <a:rPr>
                    <a:latin typeface="Courier"/>
                  </a:rPr>
                  <a:t> (p[i,j]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p[i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,j])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i, j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v: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if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&lt;</a:t>
                </a:r>
                <a:r>
                  <a:rPr>
                    <a:latin typeface="Courier"/>
                  </a:rPr>
                  <a:t> j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&lt;</a:t>
                </a:r>
                <a:r>
                  <a:rPr>
                    <a:latin typeface="Courier"/>
                  </a:rPr>
                  <a:t> NY:</a:t>
                </a:r>
                <a:br/>
                <a:r>
                  <a:rPr>
                    <a:latin typeface="Courier"/>
                  </a:rPr>
                  <a:t>            v[i,j]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-=</a:t>
                </a:r>
                <a:r>
                  <a:rPr>
                    <a:latin typeface="Courier"/>
                  </a:rPr>
                  <a:t> (p[i,j]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p[i,j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])</a:t>
                </a:r>
              </a:p>
              <a:p>
                <a:pPr lvl="0" indent="0" marL="0">
                  <a:buNone/>
                </a:pPr>
                <a:r>
                  <a:rPr/>
                  <a:t>Divergence 计算在 MAC grid 上</a:t>
                </a:r>
                <a:r>
                  <a:rPr b="1"/>
                  <a:t>精确</a:t>
                </a:r>
                <a:r>
                  <a:rPr/>
                  <a:t>——不需要有限差分近似。 这是我们使用 staggered grids 的主要原因。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Red-Black Gauss-Seidel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Pass 1：</a:t>
            </a:r>
            <a:r>
              <a:rPr/>
              <a:t> 更新所有 </a:t>
            </a:r>
            <a:r>
              <a:rPr b="1"/>
              <a:t>R</a:t>
            </a:r>
            <a:r>
              <a:rPr/>
              <a:t> cells </a:t>
            </a:r>
            <a:r>
              <a:rPr i="1"/>
              <a:t>(R 只读 B 邻居 → 无 race)</a:t>
            </a:r>
          </a:p>
          <a:p>
            <a:pPr lvl="0" indent="0" marL="0">
              <a:buNone/>
            </a:pPr>
            <a:r>
              <a:rPr b="1"/>
              <a:t>Pass 2：</a:t>
            </a:r>
            <a:r>
              <a:rPr/>
              <a:t> 更新所有 </a:t>
            </a:r>
            <a:r>
              <a:rPr b="1"/>
              <a:t>B</a:t>
            </a:r>
            <a:r>
              <a:rPr/>
              <a:t> cells </a:t>
            </a:r>
            <a:r>
              <a:rPr i="1"/>
              <a:t>(B 读刚更新的 R → GS 收益！)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并行？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收敛速度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Buffers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Jacobi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全并行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Gauss-Seidel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RB-GS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按颜色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@ti.kernel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gs_red(p_field: ti.template()):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i, j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p_field: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j)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  </a:t>
            </a:r>
            <a:r>
              <a:rPr i="1">
                <a:solidFill>
                  <a:srgbClr val="60A0B0"/>
                </a:solidFill>
                <a:latin typeface="Courier"/>
              </a:rPr>
              <a:t># checkerboard</a:t>
            </a:r>
            <a:br/>
            <a:r>
              <a:rPr>
                <a:latin typeface="Courier"/>
              </a:rPr>
              <a:t>            il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ti.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(i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ir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ti.</a:t>
            </a:r>
            <a:r>
              <a:rPr>
                <a:solidFill>
                  <a:srgbClr val="008000"/>
                </a:solidFill>
                <a:latin typeface="Courier"/>
              </a:rPr>
              <a:t>min</a:t>
            </a:r>
            <a:r>
              <a:rPr>
                <a:latin typeface="Courier"/>
              </a:rPr>
              <a:t>(i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NX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jb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ti.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(j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jt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ti.</a:t>
            </a:r>
            <a:r>
              <a:rPr>
                <a:solidFill>
                  <a:srgbClr val="008000"/>
                </a:solidFill>
                <a:latin typeface="Courier"/>
              </a:rPr>
              <a:t>min</a:t>
            </a:r>
            <a:r>
              <a:rPr>
                <a:latin typeface="Courier"/>
              </a:rPr>
              <a:t>(j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NY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p_field[i,j]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0.25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            p_field[il,j]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              p_field[ir,j]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              p_field[i,jb]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              p_field[i,jt]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br/>
            <a:r>
              <a:rPr>
                <a:latin typeface="Courier"/>
              </a:rPr>
              <a:t>                div[i,j]</a:t>
            </a:r>
            <a:br/>
            <a:r>
              <a:rPr>
                <a:latin typeface="Courier"/>
              </a:rPr>
              <a:t>            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Solver 循环：30 iters × 2 passes = 60 kernels</a:t>
            </a:r>
            <a:br/>
            <a:r>
              <a:rPr>
                <a:latin typeface="Courier"/>
              </a:rPr>
              <a:t>pressure_zero()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(GS_ITERS):  </a:t>
            </a:r>
            <a:r>
              <a:rPr i="1">
                <a:solidFill>
                  <a:srgbClr val="60A0B0"/>
                </a:solidFill>
                <a:latin typeface="Courier"/>
              </a:rPr>
              <a:t># GS_ITERS = 30</a:t>
            </a:r>
            <a:br/>
            <a:r>
              <a:rPr>
                <a:latin typeface="Courier"/>
              </a:rPr>
              <a:t>    gs_red(p)</a:t>
            </a:r>
            <a:br/>
            <a:r>
              <a:rPr>
                <a:latin typeface="Courier"/>
              </a:rPr>
              <a:t>    gs_black(p)</a:t>
            </a:r>
            <a:br/>
            <a:r>
              <a:rPr>
                <a:latin typeface="Courier"/>
              </a:rPr>
              <a:t>project()</a:t>
            </a:r>
          </a:p>
          <a:p>
            <a:pPr lvl="0" indent="0" marL="0">
              <a:buNone/>
            </a:pPr>
            <a:r>
              <a:rPr/>
              <a:t>30 次 RB-GS 迭代 &gt; 50 次 Jacobi 迭代的收敛效果。 </a:t>
            </a:r>
            <a:r>
              <a:rPr b="1"/>
              <a:t>每帧最耗时的部分</a:t>
            </a:r>
            <a:r>
              <a:rPr/>
              <a:t>（约 60-70%）。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HSV 颜色循环 &amp; Dye 注入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通过 HSV 的颜色循环</a:t>
            </a:r>
          </a:p>
          <a:p>
            <a:pPr lvl="0" indent="0" marL="0">
              <a:buNone/>
            </a:pPr>
            <a:r>
              <a:rPr/>
              <a:t>Hue 随帧数旋转——约每 3 秒完成一个完整光谱：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Hue 循环：red → yellow → green →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cyan → blue → magenta → red</a:t>
            </a:r>
            <a:br/>
            <a:r>
              <a:rPr>
                <a:latin typeface="Courier"/>
              </a:rPr>
              <a:t>hue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(frame_count[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360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60.0</a:t>
            </a:r>
            <a:br/>
            <a:r>
              <a:rPr>
                <a:latin typeface="Courier"/>
              </a:rPr>
              <a:t>color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hsv_to_rgb(hue, </a:t>
            </a:r>
            <a:r>
              <a:rPr>
                <a:solidFill>
                  <a:srgbClr val="40A070"/>
                </a:solidFill>
                <a:latin typeface="Courier"/>
              </a:rPr>
              <a:t>0.85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当不同颜色的 dye blobs 重叠时，RGB 值</a:t>
            </a:r>
            <a:r>
              <a:rPr b="1"/>
              <a:t>相加</a:t>
            </a:r>
            <a:r>
              <a:rPr/>
              <a:t> → 自然的颜色混合。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Gaussian splat 注入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@ti.kernel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inject(mx, my, mdx, mdy):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i, j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dye:</a:t>
            </a:r>
            <a:br/>
            <a:r>
              <a:rPr>
                <a:latin typeface="Courier"/>
              </a:rPr>
              <a:t>        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cell_center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mouse_pos</a:t>
            </a:r>
            <a:br/>
            <a:r>
              <a:rPr>
                <a:latin typeface="Courier"/>
              </a:rPr>
              <a:t>        r2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d.dot(d)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r2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INJECT_RADIUS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 i="1">
                <a:solidFill>
                  <a:srgbClr val="60A0B0"/>
                </a:solidFill>
                <a:latin typeface="Courier"/>
              </a:rPr>
              <a:t># 从中心平滑衰减</a:t>
            </a:r>
            <a:br/>
            <a:r>
              <a:rPr>
                <a:latin typeface="Courier"/>
              </a:rPr>
              <a:t>            w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ti.exp(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r2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R2)</a:t>
            </a:r>
            <a:br/>
            <a:br/>
            <a:r>
              <a:rPr>
                <a:latin typeface="Courier"/>
              </a:rPr>
              <a:t>            dye[i,j] 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INJECT_DYE 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w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color</a:t>
            </a:r>
            <a:br/>
            <a:r>
              <a:rPr>
                <a:latin typeface="Courier"/>
              </a:rPr>
              <a:t>            temp[i,j]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INJECT_TEMP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w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也从鼠标拖动注入 velocity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i, j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u:</a:t>
            </a:r>
            <a:br/>
            <a:r>
              <a:rPr>
                <a:latin typeface="Courier"/>
              </a:rPr>
              <a:t>        ...</a:t>
            </a:r>
            <a:br/>
            <a:r>
              <a:rPr>
                <a:latin typeface="Courier"/>
              </a:rPr>
              <a:t>        u[i,j]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INJECT_FORCE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w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mdx</a:t>
            </a:r>
          </a:p>
          <a:p>
            <a:pPr lvl="0" indent="0" marL="0">
              <a:buNone/>
            </a:pPr>
            <a:r>
              <a:rPr/>
              <a:t>Temperature 与 dye 一起注入 → 驱动 </a:t>
            </a:r>
            <a:r>
              <a:rPr b="1"/>
              <a:t>buoyancy plume</a:t>
            </a:r>
            <a:r>
              <a:rPr/>
              <a:t>。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调参表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控制什么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NX, 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 × 512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Grid 分辨率。越高 = 越清晰但越慢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1/120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 step 大小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GS_ITERS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Pressure solver 迭代次数。更多 = 更少 divergence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DYE_DISSIPATION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每帧 dye 衰减（每帧 ×0.995）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TEMP_DISSIPATION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每帧 temperature 衰减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VORT_EPS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Vorticity confinement 强度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BUOY_ALPHA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Temperature → 向上力的强度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BUOY_BETA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Dye density → 向下拉力的强度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INJECT_RADIUS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鼠标 splat 半径（grid cells）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INJECT_FORCE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鼠标拖动 → velocity 注入强度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INJECT_DYE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Dye 注入强度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INJECT_TEMP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Temperature 注入强度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视觉影响最大的：</a:t>
            </a:r>
            <a:r>
              <a:rPr/>
              <a:t> </a:t>
            </a:r>
            <a:r>
              <a:rPr>
                <a:latin typeface="Courier"/>
              </a:rPr>
              <a:t>DYE_DISSIPATION</a:t>
            </a:r>
            <a:r>
              <a:rPr/>
              <a:t>（试试 0.99 vs 1.0）、</a:t>
            </a:r>
            <a:r>
              <a:rPr>
                <a:latin typeface="Courier"/>
              </a:rPr>
              <a:t>VORT_EPS</a:t>
            </a:r>
            <a:r>
              <a:rPr/>
              <a:t>（0 vs 28 vs 50）、</a:t>
            </a:r>
            <a:r>
              <a:rPr>
                <a:latin typeface="Courier"/>
              </a:rPr>
              <a:t>BUOY_ALPHA</a:t>
            </a:r>
            <a:r>
              <a:rPr/>
              <a:t>（控制羽流速度）。 所有参数都是在 1 天冲刺期间经验性调整的。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1: 2D Eulerian Smoke Simulation</dc:title>
  <dc:creator/>
  <cp:keywords/>
  <dcterms:created xsi:type="dcterms:W3CDTF">2026-02-26T08:57:57Z</dcterms:created>
  <dcterms:modified xsi:type="dcterms:W3CDTF">2026-02-26T08:57:57Z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